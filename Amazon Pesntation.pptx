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sldIdLst>
    <p:sldId id="277" r:id="rId2"/>
    <p:sldId id="268" r:id="rId3"/>
    <p:sldId id="264" r:id="rId4"/>
    <p:sldId id="278" r:id="rId5"/>
    <p:sldId id="257" r:id="rId6"/>
    <p:sldId id="258" r:id="rId7"/>
    <p:sldId id="279" r:id="rId8"/>
    <p:sldId id="280" r:id="rId9"/>
    <p:sldId id="281" r:id="rId10"/>
    <p:sldId id="259" r:id="rId11"/>
    <p:sldId id="261" r:id="rId12"/>
    <p:sldId id="265" r:id="rId13"/>
  </p:sldIdLst>
  <p:sldSz cx="12192000" cy="6858000"/>
  <p:notesSz cx="6858000" cy="9144000"/>
  <p:embeddedFontLst>
    <p:embeddedFont>
      <p:font typeface="Fira Sans Medium" panose="020B0603050000020004" pitchFamily="34" charset="0"/>
      <p:regular r:id="rId14"/>
      <p:italic r:id="rId15"/>
    </p:embeddedFont>
    <p:embeddedFont>
      <p:font typeface="Inter" panose="020B0604020202020204" charset="0"/>
      <p:regular r:id="rId16"/>
      <p:bold r:id="rId17"/>
      <p:italic r:id="rId18"/>
      <p:boldItalic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3840" userDrawn="1">
          <p15:clr>
            <a:srgbClr val="A4A3A4"/>
          </p15:clr>
        </p15:guide>
        <p15:guide id="3" pos="415" userDrawn="1">
          <p15:clr>
            <a:srgbClr val="A4A3A4"/>
          </p15:clr>
        </p15:guide>
        <p15:guide id="4" pos="7242" userDrawn="1">
          <p15:clr>
            <a:srgbClr val="A4A3A4"/>
          </p15:clr>
        </p15:guide>
        <p15:guide id="5" orient="horz" pos="300" userDrawn="1">
          <p15:clr>
            <a:srgbClr val="A4A3A4"/>
          </p15:clr>
        </p15:guide>
        <p15:guide id="6" orient="horz" pos="4020" userDrawn="1">
          <p15:clr>
            <a:srgbClr val="A4A3A4"/>
          </p15:clr>
        </p15:guide>
        <p15:guide id="7" pos="5768" userDrawn="1">
          <p15:clr>
            <a:srgbClr val="A4A3A4"/>
          </p15:clr>
        </p15:guide>
        <p15:guide id="8" orient="horz" pos="243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00674B"/>
    <a:srgbClr val="00AAE1"/>
    <a:srgbClr val="131921"/>
    <a:srgbClr val="D9D9D9"/>
    <a:srgbClr val="232F3E"/>
    <a:srgbClr val="FFA542"/>
    <a:srgbClr val="181717"/>
    <a:srgbClr val="E15436"/>
    <a:srgbClr val="05A0D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173" autoAdjust="0"/>
    <p:restoredTop sz="96283" autoAdjust="0"/>
  </p:normalViewPr>
  <p:slideViewPr>
    <p:cSldViewPr snapToGrid="0" showGuides="1">
      <p:cViewPr>
        <p:scale>
          <a:sx n="100" d="100"/>
          <a:sy n="100" d="100"/>
        </p:scale>
        <p:origin x="-264" y="-76"/>
      </p:cViewPr>
      <p:guideLst>
        <p:guide orient="horz" pos="2137"/>
        <p:guide pos="3840"/>
        <p:guide pos="415"/>
        <p:guide pos="7242"/>
        <p:guide orient="horz" pos="300"/>
        <p:guide orient="horz" pos="4020"/>
        <p:guide pos="5768"/>
        <p:guide orient="horz" pos="2432"/>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42960CAF-861B-4DA5-991A-1546B2B4F195}"/>
              </a:ext>
            </a:extLst>
          </p:cNvPr>
          <p:cNvSpPr>
            <a:spLocks noGrp="1"/>
          </p:cNvSpPr>
          <p:nvPr>
            <p:ph type="pic" sz="quarter" idx="10"/>
          </p:nvPr>
        </p:nvSpPr>
        <p:spPr>
          <a:xfrm>
            <a:off x="7353299" y="1095375"/>
            <a:ext cx="3590925" cy="4667250"/>
          </a:xfrm>
          <a:custGeom>
            <a:avLst/>
            <a:gdLst>
              <a:gd name="connsiteX0" fmla="*/ 312734 w 3590925"/>
              <a:gd name="connsiteY0" fmla="*/ 0 h 4667250"/>
              <a:gd name="connsiteX1" fmla="*/ 3278191 w 3590925"/>
              <a:gd name="connsiteY1" fmla="*/ 0 h 4667250"/>
              <a:gd name="connsiteX2" fmla="*/ 3590925 w 3590925"/>
              <a:gd name="connsiteY2" fmla="*/ 312734 h 4667250"/>
              <a:gd name="connsiteX3" fmla="*/ 3590925 w 3590925"/>
              <a:gd name="connsiteY3" fmla="*/ 4354516 h 4667250"/>
              <a:gd name="connsiteX4" fmla="*/ 3278191 w 3590925"/>
              <a:gd name="connsiteY4" fmla="*/ 4667250 h 4667250"/>
              <a:gd name="connsiteX5" fmla="*/ 312734 w 3590925"/>
              <a:gd name="connsiteY5" fmla="*/ 4667250 h 4667250"/>
              <a:gd name="connsiteX6" fmla="*/ 0 w 3590925"/>
              <a:gd name="connsiteY6" fmla="*/ 4354516 h 4667250"/>
              <a:gd name="connsiteX7" fmla="*/ 0 w 3590925"/>
              <a:gd name="connsiteY7" fmla="*/ 312734 h 4667250"/>
              <a:gd name="connsiteX8" fmla="*/ 312734 w 3590925"/>
              <a:gd name="connsiteY8" fmla="*/ 0 h 466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90925" h="4667250">
                <a:moveTo>
                  <a:pt x="312734" y="0"/>
                </a:moveTo>
                <a:lnTo>
                  <a:pt x="3278191" y="0"/>
                </a:lnTo>
                <a:cubicBezTo>
                  <a:pt x="3450909" y="0"/>
                  <a:pt x="3590925" y="140016"/>
                  <a:pt x="3590925" y="312734"/>
                </a:cubicBezTo>
                <a:lnTo>
                  <a:pt x="3590925" y="4354516"/>
                </a:lnTo>
                <a:cubicBezTo>
                  <a:pt x="3590925" y="4527234"/>
                  <a:pt x="3450909" y="4667250"/>
                  <a:pt x="3278191" y="4667250"/>
                </a:cubicBezTo>
                <a:lnTo>
                  <a:pt x="312734" y="4667250"/>
                </a:lnTo>
                <a:cubicBezTo>
                  <a:pt x="140016" y="4667250"/>
                  <a:pt x="0" y="4527234"/>
                  <a:pt x="0" y="4354516"/>
                </a:cubicBezTo>
                <a:lnTo>
                  <a:pt x="0" y="312734"/>
                </a:lnTo>
                <a:cubicBezTo>
                  <a:pt x="0" y="140016"/>
                  <a:pt x="140016" y="0"/>
                  <a:pt x="312734" y="0"/>
                </a:cubicBezTo>
                <a:close/>
              </a:path>
            </a:pathLst>
          </a:custGeom>
        </p:spPr>
        <p:txBody>
          <a:bodyPr wrap="square">
            <a:noAutofit/>
          </a:bodyPr>
          <a:lstStyle/>
          <a:p>
            <a:endParaRPr lang="en-IN"/>
          </a:p>
        </p:txBody>
      </p:sp>
    </p:spTree>
    <p:extLst>
      <p:ext uri="{BB962C8B-B14F-4D97-AF65-F5344CB8AC3E}">
        <p14:creationId xmlns:p14="http://schemas.microsoft.com/office/powerpoint/2010/main" val="27127560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67F81A14-FB9F-46B7-B6FB-EA02364F7CFE}"/>
              </a:ext>
            </a:extLst>
          </p:cNvPr>
          <p:cNvSpPr>
            <a:spLocks noGrp="1"/>
          </p:cNvSpPr>
          <p:nvPr>
            <p:ph type="pic" sz="quarter" idx="10"/>
          </p:nvPr>
        </p:nvSpPr>
        <p:spPr>
          <a:xfrm>
            <a:off x="1089025" y="1937268"/>
            <a:ext cx="5206611" cy="3349690"/>
          </a:xfrm>
          <a:custGeom>
            <a:avLst/>
            <a:gdLst>
              <a:gd name="connsiteX0" fmla="*/ 139180 w 5206611"/>
              <a:gd name="connsiteY0" fmla="*/ 0 h 3349690"/>
              <a:gd name="connsiteX1" fmla="*/ 5067431 w 5206611"/>
              <a:gd name="connsiteY1" fmla="*/ 0 h 3349690"/>
              <a:gd name="connsiteX2" fmla="*/ 5206611 w 5206611"/>
              <a:gd name="connsiteY2" fmla="*/ 139180 h 3349690"/>
              <a:gd name="connsiteX3" fmla="*/ 5206611 w 5206611"/>
              <a:gd name="connsiteY3" fmla="*/ 3210510 h 3349690"/>
              <a:gd name="connsiteX4" fmla="*/ 5067431 w 5206611"/>
              <a:gd name="connsiteY4" fmla="*/ 3349690 h 3349690"/>
              <a:gd name="connsiteX5" fmla="*/ 139180 w 5206611"/>
              <a:gd name="connsiteY5" fmla="*/ 3349690 h 3349690"/>
              <a:gd name="connsiteX6" fmla="*/ 0 w 5206611"/>
              <a:gd name="connsiteY6" fmla="*/ 3210510 h 3349690"/>
              <a:gd name="connsiteX7" fmla="*/ 0 w 5206611"/>
              <a:gd name="connsiteY7" fmla="*/ 139180 h 3349690"/>
              <a:gd name="connsiteX8" fmla="*/ 139180 w 5206611"/>
              <a:gd name="connsiteY8" fmla="*/ 0 h 3349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06611" h="3349690">
                <a:moveTo>
                  <a:pt x="139180" y="0"/>
                </a:moveTo>
                <a:lnTo>
                  <a:pt x="5067431" y="0"/>
                </a:lnTo>
                <a:cubicBezTo>
                  <a:pt x="5144298" y="0"/>
                  <a:pt x="5206611" y="62313"/>
                  <a:pt x="5206611" y="139180"/>
                </a:cubicBezTo>
                <a:lnTo>
                  <a:pt x="5206611" y="3210510"/>
                </a:lnTo>
                <a:cubicBezTo>
                  <a:pt x="5206611" y="3287377"/>
                  <a:pt x="5144298" y="3349690"/>
                  <a:pt x="5067431" y="3349690"/>
                </a:cubicBezTo>
                <a:lnTo>
                  <a:pt x="139180" y="3349690"/>
                </a:lnTo>
                <a:cubicBezTo>
                  <a:pt x="62313" y="3349690"/>
                  <a:pt x="0" y="3287377"/>
                  <a:pt x="0" y="3210510"/>
                </a:cubicBezTo>
                <a:lnTo>
                  <a:pt x="0" y="139180"/>
                </a:lnTo>
                <a:cubicBezTo>
                  <a:pt x="0" y="62313"/>
                  <a:pt x="62313" y="0"/>
                  <a:pt x="139180" y="0"/>
                </a:cubicBezTo>
                <a:close/>
              </a:path>
            </a:pathLst>
          </a:custGeom>
        </p:spPr>
        <p:txBody>
          <a:bodyPr wrap="square">
            <a:noAutofit/>
          </a:bodyPr>
          <a:lstStyle/>
          <a:p>
            <a:endParaRPr lang="en-IN"/>
          </a:p>
        </p:txBody>
      </p:sp>
      <p:sp>
        <p:nvSpPr>
          <p:cNvPr id="16" name="Picture Placeholder 15">
            <a:extLst>
              <a:ext uri="{FF2B5EF4-FFF2-40B4-BE49-F238E27FC236}">
                <a16:creationId xmlns:a16="http://schemas.microsoft.com/office/drawing/2014/main" id="{6FE1E317-8122-4D45-8E3E-80072EC743BF}"/>
              </a:ext>
            </a:extLst>
          </p:cNvPr>
          <p:cNvSpPr>
            <a:spLocks noGrp="1"/>
          </p:cNvSpPr>
          <p:nvPr>
            <p:ph type="pic" sz="quarter" idx="11"/>
          </p:nvPr>
        </p:nvSpPr>
        <p:spPr>
          <a:xfrm>
            <a:off x="5781160" y="2620011"/>
            <a:ext cx="1427728" cy="2933647"/>
          </a:xfrm>
          <a:custGeom>
            <a:avLst/>
            <a:gdLst>
              <a:gd name="connsiteX0" fmla="*/ 187889 w 1427728"/>
              <a:gd name="connsiteY0" fmla="*/ 0 h 2933647"/>
              <a:gd name="connsiteX1" fmla="*/ 1239839 w 1427728"/>
              <a:gd name="connsiteY1" fmla="*/ 0 h 2933647"/>
              <a:gd name="connsiteX2" fmla="*/ 1427728 w 1427728"/>
              <a:gd name="connsiteY2" fmla="*/ 187889 h 2933647"/>
              <a:gd name="connsiteX3" fmla="*/ 1427728 w 1427728"/>
              <a:gd name="connsiteY3" fmla="*/ 2745758 h 2933647"/>
              <a:gd name="connsiteX4" fmla="*/ 1239839 w 1427728"/>
              <a:gd name="connsiteY4" fmla="*/ 2933647 h 2933647"/>
              <a:gd name="connsiteX5" fmla="*/ 187889 w 1427728"/>
              <a:gd name="connsiteY5" fmla="*/ 2933647 h 2933647"/>
              <a:gd name="connsiteX6" fmla="*/ 0 w 1427728"/>
              <a:gd name="connsiteY6" fmla="*/ 2745758 h 2933647"/>
              <a:gd name="connsiteX7" fmla="*/ 0 w 1427728"/>
              <a:gd name="connsiteY7" fmla="*/ 187889 h 2933647"/>
              <a:gd name="connsiteX8" fmla="*/ 187889 w 1427728"/>
              <a:gd name="connsiteY8" fmla="*/ 0 h 2933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7728" h="2933647">
                <a:moveTo>
                  <a:pt x="187889" y="0"/>
                </a:moveTo>
                <a:lnTo>
                  <a:pt x="1239839" y="0"/>
                </a:lnTo>
                <a:cubicBezTo>
                  <a:pt x="1343607" y="0"/>
                  <a:pt x="1427728" y="84121"/>
                  <a:pt x="1427728" y="187889"/>
                </a:cubicBezTo>
                <a:lnTo>
                  <a:pt x="1427728" y="2745758"/>
                </a:lnTo>
                <a:cubicBezTo>
                  <a:pt x="1427728" y="2849526"/>
                  <a:pt x="1343607" y="2933647"/>
                  <a:pt x="1239839" y="2933647"/>
                </a:cubicBezTo>
                <a:lnTo>
                  <a:pt x="187889" y="2933647"/>
                </a:lnTo>
                <a:cubicBezTo>
                  <a:pt x="84121" y="2933647"/>
                  <a:pt x="0" y="2849526"/>
                  <a:pt x="0" y="2745758"/>
                </a:cubicBezTo>
                <a:lnTo>
                  <a:pt x="0" y="187889"/>
                </a:lnTo>
                <a:cubicBezTo>
                  <a:pt x="0" y="84121"/>
                  <a:pt x="84121" y="0"/>
                  <a:pt x="187889" y="0"/>
                </a:cubicBezTo>
                <a:close/>
              </a:path>
            </a:pathLst>
          </a:custGeom>
        </p:spPr>
        <p:txBody>
          <a:bodyPr wrap="square">
            <a:noAutofit/>
          </a:bodyPr>
          <a:lstStyle/>
          <a:p>
            <a:endParaRPr lang="en-IN" dirty="0"/>
          </a:p>
        </p:txBody>
      </p:sp>
    </p:spTree>
    <p:extLst>
      <p:ext uri="{BB962C8B-B14F-4D97-AF65-F5344CB8AC3E}">
        <p14:creationId xmlns:p14="http://schemas.microsoft.com/office/powerpoint/2010/main" val="31734478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0354F-2012-4029-9730-271EC3635EE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ED8C55F-E642-46A2-AC21-9964AA55396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071242C-FDCE-4D21-B817-E558F4685B08}"/>
              </a:ext>
            </a:extLst>
          </p:cNvPr>
          <p:cNvSpPr>
            <a:spLocks noGrp="1"/>
          </p:cNvSpPr>
          <p:nvPr>
            <p:ph type="dt" sz="half" idx="10"/>
          </p:nvPr>
        </p:nvSpPr>
        <p:spPr/>
        <p:txBody>
          <a:bodyPr/>
          <a:lstStyle/>
          <a:p>
            <a:fld id="{98B8ED53-04B1-4CE0-9945-0D8638B42437}" type="datetimeFigureOut">
              <a:rPr lang="en-IN" smtClean="0"/>
              <a:t>12-04-2025</a:t>
            </a:fld>
            <a:endParaRPr lang="en-IN"/>
          </a:p>
        </p:txBody>
      </p:sp>
      <p:sp>
        <p:nvSpPr>
          <p:cNvPr id="5" name="Footer Placeholder 4">
            <a:extLst>
              <a:ext uri="{FF2B5EF4-FFF2-40B4-BE49-F238E27FC236}">
                <a16:creationId xmlns:a16="http://schemas.microsoft.com/office/drawing/2014/main" id="{13E195A9-FA22-4C81-9F51-1591A4449A3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3D40D58-B8D1-4908-83F2-66FB74081460}"/>
              </a:ext>
            </a:extLst>
          </p:cNvPr>
          <p:cNvSpPr>
            <a:spLocks noGrp="1"/>
          </p:cNvSpPr>
          <p:nvPr>
            <p:ph type="sldNum" sz="quarter" idx="12"/>
          </p:nvPr>
        </p:nvSpPr>
        <p:spPr/>
        <p:txBody>
          <a:bodyPr/>
          <a:lstStyle/>
          <a:p>
            <a:fld id="{2B6FBDD0-AF6D-4FD7-94FA-3ED5E2D9C814}" type="slidenum">
              <a:rPr lang="en-IN" smtClean="0"/>
              <a:t>‹#›</a:t>
            </a:fld>
            <a:endParaRPr lang="en-IN"/>
          </a:p>
        </p:txBody>
      </p:sp>
    </p:spTree>
    <p:extLst>
      <p:ext uri="{BB962C8B-B14F-4D97-AF65-F5344CB8AC3E}">
        <p14:creationId xmlns:p14="http://schemas.microsoft.com/office/powerpoint/2010/main" val="21660639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56B33-A575-4453-ACC3-2C4206CFFE1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44D3D68-175E-4CFA-9324-7BDA938EE94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5C30B8E-D15F-4A4A-87C6-8D0E2595331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2208E0E-8AC4-4768-BFEC-32AB2E026787}"/>
              </a:ext>
            </a:extLst>
          </p:cNvPr>
          <p:cNvSpPr>
            <a:spLocks noGrp="1"/>
          </p:cNvSpPr>
          <p:nvPr>
            <p:ph type="dt" sz="half" idx="10"/>
          </p:nvPr>
        </p:nvSpPr>
        <p:spPr/>
        <p:txBody>
          <a:bodyPr/>
          <a:lstStyle/>
          <a:p>
            <a:fld id="{98B8ED53-04B1-4CE0-9945-0D8638B42437}" type="datetimeFigureOut">
              <a:rPr lang="en-IN" smtClean="0"/>
              <a:t>12-04-2025</a:t>
            </a:fld>
            <a:endParaRPr lang="en-IN"/>
          </a:p>
        </p:txBody>
      </p:sp>
      <p:sp>
        <p:nvSpPr>
          <p:cNvPr id="6" name="Footer Placeholder 5">
            <a:extLst>
              <a:ext uri="{FF2B5EF4-FFF2-40B4-BE49-F238E27FC236}">
                <a16:creationId xmlns:a16="http://schemas.microsoft.com/office/drawing/2014/main" id="{A85AD9A2-F0AC-49B7-A2EE-E8461BD22E4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D9C0028-707D-46D3-8CC3-5FDB72FE0916}"/>
              </a:ext>
            </a:extLst>
          </p:cNvPr>
          <p:cNvSpPr>
            <a:spLocks noGrp="1"/>
          </p:cNvSpPr>
          <p:nvPr>
            <p:ph type="sldNum" sz="quarter" idx="12"/>
          </p:nvPr>
        </p:nvSpPr>
        <p:spPr/>
        <p:txBody>
          <a:bodyPr/>
          <a:lstStyle/>
          <a:p>
            <a:fld id="{2B6FBDD0-AF6D-4FD7-94FA-3ED5E2D9C814}" type="slidenum">
              <a:rPr lang="en-IN" smtClean="0"/>
              <a:t>‹#›</a:t>
            </a:fld>
            <a:endParaRPr lang="en-IN"/>
          </a:p>
        </p:txBody>
      </p:sp>
    </p:spTree>
    <p:extLst>
      <p:ext uri="{BB962C8B-B14F-4D97-AF65-F5344CB8AC3E}">
        <p14:creationId xmlns:p14="http://schemas.microsoft.com/office/powerpoint/2010/main" val="41438895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FEE4E-C111-42F9-8BB6-746E32D565E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C9735DA-7523-4CFF-9DFC-8E4E2619F95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6CC3EAE-EB02-4501-9EE5-3BC1AF06921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4A28CF6-4F3B-4542-92C8-25C006568E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1217DC-0C6D-48B9-81EF-3D00E6BFFDD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03C24F4-66DE-48A8-9D49-40DA37F620A8}"/>
              </a:ext>
            </a:extLst>
          </p:cNvPr>
          <p:cNvSpPr>
            <a:spLocks noGrp="1"/>
          </p:cNvSpPr>
          <p:nvPr>
            <p:ph type="dt" sz="half" idx="10"/>
          </p:nvPr>
        </p:nvSpPr>
        <p:spPr/>
        <p:txBody>
          <a:bodyPr/>
          <a:lstStyle/>
          <a:p>
            <a:fld id="{98B8ED53-04B1-4CE0-9945-0D8638B42437}" type="datetimeFigureOut">
              <a:rPr lang="en-IN" smtClean="0"/>
              <a:t>12-04-2025</a:t>
            </a:fld>
            <a:endParaRPr lang="en-IN"/>
          </a:p>
        </p:txBody>
      </p:sp>
      <p:sp>
        <p:nvSpPr>
          <p:cNvPr id="8" name="Footer Placeholder 7">
            <a:extLst>
              <a:ext uri="{FF2B5EF4-FFF2-40B4-BE49-F238E27FC236}">
                <a16:creationId xmlns:a16="http://schemas.microsoft.com/office/drawing/2014/main" id="{30F56F18-AD73-4E71-AF9B-3AB91B7F021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2ADC409-F581-4FA3-8470-49C1CF2C8F27}"/>
              </a:ext>
            </a:extLst>
          </p:cNvPr>
          <p:cNvSpPr>
            <a:spLocks noGrp="1"/>
          </p:cNvSpPr>
          <p:nvPr>
            <p:ph type="sldNum" sz="quarter" idx="12"/>
          </p:nvPr>
        </p:nvSpPr>
        <p:spPr/>
        <p:txBody>
          <a:bodyPr/>
          <a:lstStyle/>
          <a:p>
            <a:fld id="{2B6FBDD0-AF6D-4FD7-94FA-3ED5E2D9C814}" type="slidenum">
              <a:rPr lang="en-IN" smtClean="0"/>
              <a:t>‹#›</a:t>
            </a:fld>
            <a:endParaRPr lang="en-IN"/>
          </a:p>
        </p:txBody>
      </p:sp>
    </p:spTree>
    <p:extLst>
      <p:ext uri="{BB962C8B-B14F-4D97-AF65-F5344CB8AC3E}">
        <p14:creationId xmlns:p14="http://schemas.microsoft.com/office/powerpoint/2010/main" val="11921808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8959F-D94F-4A3D-A24D-40E998CA4E4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5D3C73D-5419-44B5-AA21-49796EA7855C}"/>
              </a:ext>
            </a:extLst>
          </p:cNvPr>
          <p:cNvSpPr>
            <a:spLocks noGrp="1"/>
          </p:cNvSpPr>
          <p:nvPr>
            <p:ph type="dt" sz="half" idx="10"/>
          </p:nvPr>
        </p:nvSpPr>
        <p:spPr/>
        <p:txBody>
          <a:bodyPr/>
          <a:lstStyle/>
          <a:p>
            <a:fld id="{98B8ED53-04B1-4CE0-9945-0D8638B42437}" type="datetimeFigureOut">
              <a:rPr lang="en-IN" smtClean="0"/>
              <a:t>12-04-2025</a:t>
            </a:fld>
            <a:endParaRPr lang="en-IN"/>
          </a:p>
        </p:txBody>
      </p:sp>
      <p:sp>
        <p:nvSpPr>
          <p:cNvPr id="4" name="Footer Placeholder 3">
            <a:extLst>
              <a:ext uri="{FF2B5EF4-FFF2-40B4-BE49-F238E27FC236}">
                <a16:creationId xmlns:a16="http://schemas.microsoft.com/office/drawing/2014/main" id="{0D027FCA-52C9-41C4-8066-ED3083E8298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BA93430-DE59-4BE6-9095-A839C074089C}"/>
              </a:ext>
            </a:extLst>
          </p:cNvPr>
          <p:cNvSpPr>
            <a:spLocks noGrp="1"/>
          </p:cNvSpPr>
          <p:nvPr>
            <p:ph type="sldNum" sz="quarter" idx="12"/>
          </p:nvPr>
        </p:nvSpPr>
        <p:spPr/>
        <p:txBody>
          <a:bodyPr/>
          <a:lstStyle/>
          <a:p>
            <a:fld id="{2B6FBDD0-AF6D-4FD7-94FA-3ED5E2D9C814}" type="slidenum">
              <a:rPr lang="en-IN" smtClean="0"/>
              <a:t>‹#›</a:t>
            </a:fld>
            <a:endParaRPr lang="en-IN"/>
          </a:p>
        </p:txBody>
      </p:sp>
    </p:spTree>
    <p:extLst>
      <p:ext uri="{BB962C8B-B14F-4D97-AF65-F5344CB8AC3E}">
        <p14:creationId xmlns:p14="http://schemas.microsoft.com/office/powerpoint/2010/main" val="13668552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699BF92-7A7C-4058-BB24-D42AFCB84E5C}"/>
              </a:ext>
            </a:extLst>
          </p:cNvPr>
          <p:cNvSpPr>
            <a:spLocks noGrp="1"/>
          </p:cNvSpPr>
          <p:nvPr>
            <p:ph type="dt" sz="half" idx="10"/>
          </p:nvPr>
        </p:nvSpPr>
        <p:spPr/>
        <p:txBody>
          <a:bodyPr/>
          <a:lstStyle/>
          <a:p>
            <a:fld id="{98B8ED53-04B1-4CE0-9945-0D8638B42437}" type="datetimeFigureOut">
              <a:rPr lang="en-IN" smtClean="0"/>
              <a:t>12-04-2025</a:t>
            </a:fld>
            <a:endParaRPr lang="en-IN"/>
          </a:p>
        </p:txBody>
      </p:sp>
      <p:sp>
        <p:nvSpPr>
          <p:cNvPr id="3" name="Footer Placeholder 2">
            <a:extLst>
              <a:ext uri="{FF2B5EF4-FFF2-40B4-BE49-F238E27FC236}">
                <a16:creationId xmlns:a16="http://schemas.microsoft.com/office/drawing/2014/main" id="{16EE9ABA-2B03-4C5B-9270-EC42625F7A7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2C01FDB-556A-4B27-A9A9-18EAB9D1794A}"/>
              </a:ext>
            </a:extLst>
          </p:cNvPr>
          <p:cNvSpPr>
            <a:spLocks noGrp="1"/>
          </p:cNvSpPr>
          <p:nvPr>
            <p:ph type="sldNum" sz="quarter" idx="12"/>
          </p:nvPr>
        </p:nvSpPr>
        <p:spPr/>
        <p:txBody>
          <a:bodyPr/>
          <a:lstStyle/>
          <a:p>
            <a:fld id="{2B6FBDD0-AF6D-4FD7-94FA-3ED5E2D9C814}" type="slidenum">
              <a:rPr lang="en-IN" smtClean="0"/>
              <a:t>‹#›</a:t>
            </a:fld>
            <a:endParaRPr lang="en-IN"/>
          </a:p>
        </p:txBody>
      </p:sp>
    </p:spTree>
    <p:extLst>
      <p:ext uri="{BB962C8B-B14F-4D97-AF65-F5344CB8AC3E}">
        <p14:creationId xmlns:p14="http://schemas.microsoft.com/office/powerpoint/2010/main" val="35315100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EDFD6-00C6-482F-B7A6-347043469A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6B38055-61A4-4A30-A0D2-3A0A2F0620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18B1B23-E579-4666-AEBE-62A3489D0B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E89FB2-B9BA-4C64-A3CC-7491909E4473}"/>
              </a:ext>
            </a:extLst>
          </p:cNvPr>
          <p:cNvSpPr>
            <a:spLocks noGrp="1"/>
          </p:cNvSpPr>
          <p:nvPr>
            <p:ph type="dt" sz="half" idx="10"/>
          </p:nvPr>
        </p:nvSpPr>
        <p:spPr/>
        <p:txBody>
          <a:bodyPr/>
          <a:lstStyle/>
          <a:p>
            <a:fld id="{98B8ED53-04B1-4CE0-9945-0D8638B42437}" type="datetimeFigureOut">
              <a:rPr lang="en-IN" smtClean="0"/>
              <a:t>12-04-2025</a:t>
            </a:fld>
            <a:endParaRPr lang="en-IN"/>
          </a:p>
        </p:txBody>
      </p:sp>
      <p:sp>
        <p:nvSpPr>
          <p:cNvPr id="6" name="Footer Placeholder 5">
            <a:extLst>
              <a:ext uri="{FF2B5EF4-FFF2-40B4-BE49-F238E27FC236}">
                <a16:creationId xmlns:a16="http://schemas.microsoft.com/office/drawing/2014/main" id="{0B124EB4-B9E2-4695-BBB7-DF34F38049F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D7CA07C-36EF-4AD9-8AD8-759044DDD683}"/>
              </a:ext>
            </a:extLst>
          </p:cNvPr>
          <p:cNvSpPr>
            <a:spLocks noGrp="1"/>
          </p:cNvSpPr>
          <p:nvPr>
            <p:ph type="sldNum" sz="quarter" idx="12"/>
          </p:nvPr>
        </p:nvSpPr>
        <p:spPr/>
        <p:txBody>
          <a:bodyPr/>
          <a:lstStyle/>
          <a:p>
            <a:fld id="{2B6FBDD0-AF6D-4FD7-94FA-3ED5E2D9C814}" type="slidenum">
              <a:rPr lang="en-IN" smtClean="0"/>
              <a:t>‹#›</a:t>
            </a:fld>
            <a:endParaRPr lang="en-IN"/>
          </a:p>
        </p:txBody>
      </p:sp>
    </p:spTree>
    <p:extLst>
      <p:ext uri="{BB962C8B-B14F-4D97-AF65-F5344CB8AC3E}">
        <p14:creationId xmlns:p14="http://schemas.microsoft.com/office/powerpoint/2010/main" val="24066107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E4494-F332-4EBB-A5DB-1017AE2782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5B47CA2-0954-40A9-9D99-730920CF6E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FFC8143-B631-4DA1-87F9-783F749140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D7DCE4-4E07-446E-96D1-178DBD7D58E5}"/>
              </a:ext>
            </a:extLst>
          </p:cNvPr>
          <p:cNvSpPr>
            <a:spLocks noGrp="1"/>
          </p:cNvSpPr>
          <p:nvPr>
            <p:ph type="dt" sz="half" idx="10"/>
          </p:nvPr>
        </p:nvSpPr>
        <p:spPr/>
        <p:txBody>
          <a:bodyPr/>
          <a:lstStyle/>
          <a:p>
            <a:fld id="{98B8ED53-04B1-4CE0-9945-0D8638B42437}" type="datetimeFigureOut">
              <a:rPr lang="en-IN" smtClean="0"/>
              <a:t>12-04-2025</a:t>
            </a:fld>
            <a:endParaRPr lang="en-IN"/>
          </a:p>
        </p:txBody>
      </p:sp>
      <p:sp>
        <p:nvSpPr>
          <p:cNvPr id="6" name="Footer Placeholder 5">
            <a:extLst>
              <a:ext uri="{FF2B5EF4-FFF2-40B4-BE49-F238E27FC236}">
                <a16:creationId xmlns:a16="http://schemas.microsoft.com/office/drawing/2014/main" id="{818A130A-AA2D-47B3-ADD8-9F1014DA6A4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6BBEF34-BEB7-4321-8FAC-297314A41F47}"/>
              </a:ext>
            </a:extLst>
          </p:cNvPr>
          <p:cNvSpPr>
            <a:spLocks noGrp="1"/>
          </p:cNvSpPr>
          <p:nvPr>
            <p:ph type="sldNum" sz="quarter" idx="12"/>
          </p:nvPr>
        </p:nvSpPr>
        <p:spPr/>
        <p:txBody>
          <a:bodyPr/>
          <a:lstStyle/>
          <a:p>
            <a:fld id="{2B6FBDD0-AF6D-4FD7-94FA-3ED5E2D9C814}" type="slidenum">
              <a:rPr lang="en-IN" smtClean="0"/>
              <a:t>‹#›</a:t>
            </a:fld>
            <a:endParaRPr lang="en-IN"/>
          </a:p>
        </p:txBody>
      </p:sp>
    </p:spTree>
    <p:extLst>
      <p:ext uri="{BB962C8B-B14F-4D97-AF65-F5344CB8AC3E}">
        <p14:creationId xmlns:p14="http://schemas.microsoft.com/office/powerpoint/2010/main" val="38842193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D962F-E843-4796-A161-C9ED6D7607E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18D8781-6CDB-4BB3-BD02-9A729F19F1A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A6B6EE6-B9B5-446A-9442-B6C746F8309C}"/>
              </a:ext>
            </a:extLst>
          </p:cNvPr>
          <p:cNvSpPr>
            <a:spLocks noGrp="1"/>
          </p:cNvSpPr>
          <p:nvPr>
            <p:ph type="dt" sz="half" idx="10"/>
          </p:nvPr>
        </p:nvSpPr>
        <p:spPr/>
        <p:txBody>
          <a:bodyPr/>
          <a:lstStyle/>
          <a:p>
            <a:fld id="{98B8ED53-04B1-4CE0-9945-0D8638B42437}" type="datetimeFigureOut">
              <a:rPr lang="en-IN" smtClean="0"/>
              <a:t>12-04-2025</a:t>
            </a:fld>
            <a:endParaRPr lang="en-IN"/>
          </a:p>
        </p:txBody>
      </p:sp>
      <p:sp>
        <p:nvSpPr>
          <p:cNvPr id="5" name="Footer Placeholder 4">
            <a:extLst>
              <a:ext uri="{FF2B5EF4-FFF2-40B4-BE49-F238E27FC236}">
                <a16:creationId xmlns:a16="http://schemas.microsoft.com/office/drawing/2014/main" id="{BE53721F-EE68-427C-91E4-AC64563FC2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46D8722-B26B-4E13-8D6D-2E97C6ED35FD}"/>
              </a:ext>
            </a:extLst>
          </p:cNvPr>
          <p:cNvSpPr>
            <a:spLocks noGrp="1"/>
          </p:cNvSpPr>
          <p:nvPr>
            <p:ph type="sldNum" sz="quarter" idx="12"/>
          </p:nvPr>
        </p:nvSpPr>
        <p:spPr/>
        <p:txBody>
          <a:bodyPr/>
          <a:lstStyle/>
          <a:p>
            <a:fld id="{2B6FBDD0-AF6D-4FD7-94FA-3ED5E2D9C814}" type="slidenum">
              <a:rPr lang="en-IN" smtClean="0"/>
              <a:t>‹#›</a:t>
            </a:fld>
            <a:endParaRPr lang="en-IN"/>
          </a:p>
        </p:txBody>
      </p:sp>
    </p:spTree>
    <p:extLst>
      <p:ext uri="{BB962C8B-B14F-4D97-AF65-F5344CB8AC3E}">
        <p14:creationId xmlns:p14="http://schemas.microsoft.com/office/powerpoint/2010/main" val="41398777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3975F4-F194-4338-94EC-EFA16C56190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9B40457-343B-47C0-833C-69814E68F47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2FB4437-8197-42E9-9A43-DC3777426C55}"/>
              </a:ext>
            </a:extLst>
          </p:cNvPr>
          <p:cNvSpPr>
            <a:spLocks noGrp="1"/>
          </p:cNvSpPr>
          <p:nvPr>
            <p:ph type="dt" sz="half" idx="10"/>
          </p:nvPr>
        </p:nvSpPr>
        <p:spPr/>
        <p:txBody>
          <a:bodyPr/>
          <a:lstStyle/>
          <a:p>
            <a:fld id="{98B8ED53-04B1-4CE0-9945-0D8638B42437}" type="datetimeFigureOut">
              <a:rPr lang="en-IN" smtClean="0"/>
              <a:t>12-04-2025</a:t>
            </a:fld>
            <a:endParaRPr lang="en-IN"/>
          </a:p>
        </p:txBody>
      </p:sp>
      <p:sp>
        <p:nvSpPr>
          <p:cNvPr id="5" name="Footer Placeholder 4">
            <a:extLst>
              <a:ext uri="{FF2B5EF4-FFF2-40B4-BE49-F238E27FC236}">
                <a16:creationId xmlns:a16="http://schemas.microsoft.com/office/drawing/2014/main" id="{6FACF554-DBEA-48F3-955E-350BFB3D3E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64A3AF5-2D1D-4FE9-B6B5-A3095B30BE96}"/>
              </a:ext>
            </a:extLst>
          </p:cNvPr>
          <p:cNvSpPr>
            <a:spLocks noGrp="1"/>
          </p:cNvSpPr>
          <p:nvPr>
            <p:ph type="sldNum" sz="quarter" idx="12"/>
          </p:nvPr>
        </p:nvSpPr>
        <p:spPr/>
        <p:txBody>
          <a:bodyPr/>
          <a:lstStyle/>
          <a:p>
            <a:fld id="{2B6FBDD0-AF6D-4FD7-94FA-3ED5E2D9C814}" type="slidenum">
              <a:rPr lang="en-IN" smtClean="0"/>
              <a:t>‹#›</a:t>
            </a:fld>
            <a:endParaRPr lang="en-IN"/>
          </a:p>
        </p:txBody>
      </p:sp>
    </p:spTree>
    <p:extLst>
      <p:ext uri="{BB962C8B-B14F-4D97-AF65-F5344CB8AC3E}">
        <p14:creationId xmlns:p14="http://schemas.microsoft.com/office/powerpoint/2010/main" val="26048824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AFCAB94-16D2-4E14-AC20-3A7AE99F610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0AFF215-ABCB-4225-8EB4-E5940553E6F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656D5D-38C5-495E-8F8E-BBC080180F4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8B8ED53-04B1-4CE0-9945-0D8638B42437}" type="datetimeFigureOut">
              <a:rPr lang="en-IN" smtClean="0"/>
              <a:t>12-04-2025</a:t>
            </a:fld>
            <a:endParaRPr lang="en-IN"/>
          </a:p>
        </p:txBody>
      </p:sp>
      <p:sp>
        <p:nvSpPr>
          <p:cNvPr id="5" name="Footer Placeholder 4">
            <a:extLst>
              <a:ext uri="{FF2B5EF4-FFF2-40B4-BE49-F238E27FC236}">
                <a16:creationId xmlns:a16="http://schemas.microsoft.com/office/drawing/2014/main" id="{1D9304FE-36F3-47D5-8300-F8FB4A5AEA8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210620F-861B-43D8-BDF2-5318838148F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6FBDD0-AF6D-4FD7-94FA-3ED5E2D9C814}" type="slidenum">
              <a:rPr lang="en-IN" smtClean="0"/>
              <a:t>‹#›</a:t>
            </a:fld>
            <a:endParaRPr lang="en-IN"/>
          </a:p>
        </p:txBody>
      </p:sp>
    </p:spTree>
    <p:extLst>
      <p:ext uri="{BB962C8B-B14F-4D97-AF65-F5344CB8AC3E}">
        <p14:creationId xmlns:p14="http://schemas.microsoft.com/office/powerpoint/2010/main" val="16338250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8E00E-A940-BF07-9D34-89034F0D343C}"/>
            </a:ext>
          </a:extLst>
        </p:cNvPr>
        <p:cNvGrpSpPr/>
        <p:nvPr/>
      </p:nvGrpSpPr>
      <p:grpSpPr>
        <a:xfrm>
          <a:off x="0" y="0"/>
          <a:ext cx="0" cy="0"/>
          <a:chOff x="0" y="0"/>
          <a:chExt cx="0" cy="0"/>
        </a:xfrm>
      </p:grpSpPr>
      <p:sp>
        <p:nvSpPr>
          <p:cNvPr id="21" name="Freeform: Shape 20">
            <a:extLst>
              <a:ext uri="{FF2B5EF4-FFF2-40B4-BE49-F238E27FC236}">
                <a16:creationId xmlns:a16="http://schemas.microsoft.com/office/drawing/2014/main" id="{998D16FF-A868-4F95-8C2B-DA218FE6650B}"/>
              </a:ext>
            </a:extLst>
          </p:cNvPr>
          <p:cNvSpPr/>
          <p:nvPr/>
        </p:nvSpPr>
        <p:spPr>
          <a:xfrm rot="5400000">
            <a:off x="9878829" y="3215937"/>
            <a:ext cx="3316690" cy="4835022"/>
          </a:xfrm>
          <a:custGeom>
            <a:avLst/>
            <a:gdLst>
              <a:gd name="connsiteX0" fmla="*/ 550 w 3991493"/>
              <a:gd name="connsiteY0" fmla="*/ 1642332 h 4835022"/>
              <a:gd name="connsiteX1" fmla="*/ 765521 w 3991493"/>
              <a:gd name="connsiteY1" fmla="*/ 580588 h 4835022"/>
              <a:gd name="connsiteX2" fmla="*/ 2083026 w 3991493"/>
              <a:gd name="connsiteY2" fmla="*/ 100048 h 4835022"/>
              <a:gd name="connsiteX3" fmla="*/ 2715245 w 3991493"/>
              <a:gd name="connsiteY3" fmla="*/ 1509749 h 4835022"/>
              <a:gd name="connsiteX4" fmla="*/ 2721227 w 3991493"/>
              <a:gd name="connsiteY4" fmla="*/ 1521384 h 4835022"/>
              <a:gd name="connsiteX5" fmla="*/ 3318393 w 3991493"/>
              <a:gd name="connsiteY5" fmla="*/ 1521384 h 4835022"/>
              <a:gd name="connsiteX6" fmla="*/ 3929986 w 3991493"/>
              <a:gd name="connsiteY6" fmla="*/ 1521384 h 4835022"/>
              <a:gd name="connsiteX7" fmla="*/ 3991493 w 3991493"/>
              <a:gd name="connsiteY7" fmla="*/ 1521384 h 4835022"/>
              <a:gd name="connsiteX8" fmla="*/ 3991493 w 3991493"/>
              <a:gd name="connsiteY8" fmla="*/ 4315384 h 4835022"/>
              <a:gd name="connsiteX9" fmla="*/ 3598980 w 3991493"/>
              <a:gd name="connsiteY9" fmla="*/ 4315384 h 4835022"/>
              <a:gd name="connsiteX10" fmla="*/ 3619976 w 3991493"/>
              <a:gd name="connsiteY10" fmla="*/ 4405771 h 4835022"/>
              <a:gd name="connsiteX11" fmla="*/ 3664689 w 3991493"/>
              <a:gd name="connsiteY11" fmla="*/ 4832151 h 4835022"/>
              <a:gd name="connsiteX12" fmla="*/ 2683777 w 3991493"/>
              <a:gd name="connsiteY12" fmla="*/ 3360765 h 4835022"/>
              <a:gd name="connsiteX13" fmla="*/ 1889482 w 3991493"/>
              <a:gd name="connsiteY13" fmla="*/ 2464207 h 4835022"/>
              <a:gd name="connsiteX14" fmla="*/ 81357 w 3991493"/>
              <a:gd name="connsiteY14" fmla="*/ 1843552 h 4835022"/>
              <a:gd name="connsiteX15" fmla="*/ 550 w 3991493"/>
              <a:gd name="connsiteY15" fmla="*/ 1642332 h 4835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991493" h="4835022">
                <a:moveTo>
                  <a:pt x="550" y="1642332"/>
                </a:moveTo>
                <a:cubicBezTo>
                  <a:pt x="-16569" y="1328474"/>
                  <a:pt x="368015" y="925398"/>
                  <a:pt x="765521" y="580588"/>
                </a:cubicBezTo>
                <a:cubicBezTo>
                  <a:pt x="1255823" y="160176"/>
                  <a:pt x="1760838" y="-174916"/>
                  <a:pt x="2083026" y="100048"/>
                </a:cubicBezTo>
                <a:cubicBezTo>
                  <a:pt x="2362548" y="345008"/>
                  <a:pt x="2499183" y="1057820"/>
                  <a:pt x="2715245" y="1509749"/>
                </a:cubicBezTo>
                <a:lnTo>
                  <a:pt x="2721227" y="1521384"/>
                </a:lnTo>
                <a:lnTo>
                  <a:pt x="3318393" y="1521384"/>
                </a:lnTo>
                <a:lnTo>
                  <a:pt x="3929986" y="1521384"/>
                </a:lnTo>
                <a:lnTo>
                  <a:pt x="3991493" y="1521384"/>
                </a:lnTo>
                <a:lnTo>
                  <a:pt x="3991493" y="4315384"/>
                </a:lnTo>
                <a:lnTo>
                  <a:pt x="3598980" y="4315384"/>
                </a:lnTo>
                <a:lnTo>
                  <a:pt x="3619976" y="4405771"/>
                </a:lnTo>
                <a:cubicBezTo>
                  <a:pt x="3673465" y="4641116"/>
                  <a:pt x="3702837" y="4809178"/>
                  <a:pt x="3664689" y="4832151"/>
                </a:cubicBezTo>
                <a:cubicBezTo>
                  <a:pt x="3559158" y="4894433"/>
                  <a:pt x="2974535" y="3928939"/>
                  <a:pt x="2683777" y="3360765"/>
                </a:cubicBezTo>
                <a:cubicBezTo>
                  <a:pt x="2393020" y="2792591"/>
                  <a:pt x="2399927" y="2620719"/>
                  <a:pt x="1889482" y="2464207"/>
                </a:cubicBezTo>
                <a:cubicBezTo>
                  <a:pt x="1380096" y="2311659"/>
                  <a:pt x="356095" y="2169487"/>
                  <a:pt x="81357" y="1843552"/>
                </a:cubicBezTo>
                <a:cubicBezTo>
                  <a:pt x="29844" y="1782438"/>
                  <a:pt x="4501" y="1714761"/>
                  <a:pt x="550" y="1642332"/>
                </a:cubicBezTo>
                <a:close/>
              </a:path>
            </a:pathLst>
          </a:custGeom>
          <a:solidFill>
            <a:srgbClr val="13192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5" name="Graphic 11">
            <a:extLst>
              <a:ext uri="{FF2B5EF4-FFF2-40B4-BE49-F238E27FC236}">
                <a16:creationId xmlns:a16="http://schemas.microsoft.com/office/drawing/2014/main" id="{63BD7011-1A8D-E3FC-0E5D-5B764614A348}"/>
              </a:ext>
            </a:extLst>
          </p:cNvPr>
          <p:cNvSpPr/>
          <p:nvPr/>
        </p:nvSpPr>
        <p:spPr>
          <a:xfrm>
            <a:off x="10747201" y="4961641"/>
            <a:ext cx="1444799" cy="1343613"/>
          </a:xfrm>
          <a:custGeom>
            <a:avLst/>
            <a:gdLst>
              <a:gd name="connsiteX0" fmla="*/ 1051454 w 1444799"/>
              <a:gd name="connsiteY0" fmla="*/ 206792 h 1343613"/>
              <a:gd name="connsiteX1" fmla="*/ 1253384 w 1444799"/>
              <a:gd name="connsiteY1" fmla="*/ 532548 h 1343613"/>
              <a:gd name="connsiteX2" fmla="*/ 1443884 w 1444799"/>
              <a:gd name="connsiteY2" fmla="*/ 904023 h 1343613"/>
              <a:gd name="connsiteX3" fmla="*/ 1145752 w 1444799"/>
              <a:gd name="connsiteY3" fmla="*/ 1165960 h 1343613"/>
              <a:gd name="connsiteX4" fmla="*/ 728556 w 1444799"/>
              <a:gd name="connsiteY4" fmla="*/ 1305025 h 1343613"/>
              <a:gd name="connsiteX5" fmla="*/ 267546 w 1444799"/>
              <a:gd name="connsiteY5" fmla="*/ 1305025 h 1343613"/>
              <a:gd name="connsiteX6" fmla="*/ 21801 w 1444799"/>
              <a:gd name="connsiteY6" fmla="*/ 912595 h 1343613"/>
              <a:gd name="connsiteX7" fmla="*/ 64664 w 1444799"/>
              <a:gd name="connsiteY7" fmla="*/ 463968 h 1343613"/>
              <a:gd name="connsiteX8" fmla="*/ 405659 w 1444799"/>
              <a:gd name="connsiteY8" fmla="*/ 187742 h 1343613"/>
              <a:gd name="connsiteX9" fmla="*/ 753321 w 1444799"/>
              <a:gd name="connsiteY9" fmla="*/ 100 h 1343613"/>
              <a:gd name="connsiteX10" fmla="*/ 1051454 w 1444799"/>
              <a:gd name="connsiteY10" fmla="*/ 206792 h 1343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44799" h="1343613">
                <a:moveTo>
                  <a:pt x="1051454" y="206792"/>
                </a:moveTo>
                <a:cubicBezTo>
                  <a:pt x="1128607" y="309663"/>
                  <a:pt x="1171469" y="411580"/>
                  <a:pt x="1253384" y="532548"/>
                </a:cubicBezTo>
                <a:cubicBezTo>
                  <a:pt x="1336252" y="652563"/>
                  <a:pt x="1457219" y="791628"/>
                  <a:pt x="1443884" y="904023"/>
                </a:cubicBezTo>
                <a:cubicBezTo>
                  <a:pt x="1430549" y="1016418"/>
                  <a:pt x="1282912" y="1102143"/>
                  <a:pt x="1145752" y="1165960"/>
                </a:cubicBezTo>
                <a:cubicBezTo>
                  <a:pt x="1008591" y="1228825"/>
                  <a:pt x="880956" y="1269783"/>
                  <a:pt x="728556" y="1305025"/>
                </a:cubicBezTo>
                <a:cubicBezTo>
                  <a:pt x="575204" y="1340268"/>
                  <a:pt x="397086" y="1370748"/>
                  <a:pt x="267546" y="1305025"/>
                </a:cubicBezTo>
                <a:cubicBezTo>
                  <a:pt x="138959" y="1239303"/>
                  <a:pt x="58949" y="1076425"/>
                  <a:pt x="21801" y="912595"/>
                </a:cubicBezTo>
                <a:cubicBezTo>
                  <a:pt x="-14394" y="748765"/>
                  <a:pt x="-8679" y="583030"/>
                  <a:pt x="64664" y="463968"/>
                </a:cubicBezTo>
                <a:cubicBezTo>
                  <a:pt x="138006" y="345858"/>
                  <a:pt x="278976" y="274420"/>
                  <a:pt x="405659" y="187742"/>
                </a:cubicBezTo>
                <a:cubicBezTo>
                  <a:pt x="531389" y="101065"/>
                  <a:pt x="642831" y="100"/>
                  <a:pt x="753321" y="100"/>
                </a:cubicBezTo>
                <a:cubicBezTo>
                  <a:pt x="864764" y="1052"/>
                  <a:pt x="974301" y="104875"/>
                  <a:pt x="1051454" y="206792"/>
                </a:cubicBezTo>
                <a:close/>
              </a:path>
            </a:pathLst>
          </a:custGeom>
          <a:solidFill>
            <a:srgbClr val="FF9900"/>
          </a:solidFill>
          <a:ln w="9525" cap="flat">
            <a:noFill/>
            <a:prstDash val="solid"/>
            <a:miter/>
          </a:ln>
        </p:spPr>
        <p:txBody>
          <a:bodyPr rtlCol="0" anchor="ctr"/>
          <a:lstStyle/>
          <a:p>
            <a:endParaRPr lang="en-IN"/>
          </a:p>
        </p:txBody>
      </p:sp>
      <p:grpSp>
        <p:nvGrpSpPr>
          <p:cNvPr id="2" name="Group 1">
            <a:extLst>
              <a:ext uri="{FF2B5EF4-FFF2-40B4-BE49-F238E27FC236}">
                <a16:creationId xmlns:a16="http://schemas.microsoft.com/office/drawing/2014/main" id="{0B39C97F-9AA3-2A33-B619-330E126744F2}"/>
              </a:ext>
            </a:extLst>
          </p:cNvPr>
          <p:cNvGrpSpPr/>
          <p:nvPr/>
        </p:nvGrpSpPr>
        <p:grpSpPr>
          <a:xfrm>
            <a:off x="4008257" y="2611185"/>
            <a:ext cx="4193777" cy="1629333"/>
            <a:chOff x="4008257" y="2544510"/>
            <a:chExt cx="4193777" cy="1629333"/>
          </a:xfrm>
        </p:grpSpPr>
        <p:sp>
          <p:nvSpPr>
            <p:cNvPr id="24" name="TextBox 23">
              <a:extLst>
                <a:ext uri="{FF2B5EF4-FFF2-40B4-BE49-F238E27FC236}">
                  <a16:creationId xmlns:a16="http://schemas.microsoft.com/office/drawing/2014/main" id="{D98325BF-012E-5519-CFAE-7CEC0982C387}"/>
                </a:ext>
              </a:extLst>
            </p:cNvPr>
            <p:cNvSpPr txBox="1"/>
            <p:nvPr/>
          </p:nvSpPr>
          <p:spPr>
            <a:xfrm>
              <a:off x="4008257" y="2544510"/>
              <a:ext cx="4193777" cy="1446550"/>
            </a:xfrm>
            <a:prstGeom prst="rect">
              <a:avLst/>
            </a:prstGeom>
            <a:noFill/>
          </p:spPr>
          <p:txBody>
            <a:bodyPr wrap="none" rtlCol="0">
              <a:spAutoFit/>
            </a:bodyPr>
            <a:lstStyle/>
            <a:p>
              <a:pPr algn="ctr"/>
              <a:r>
                <a:rPr lang="en-IN" sz="8800" dirty="0">
                  <a:latin typeface="Fira Sans Medium" panose="020B0603050000020004" pitchFamily="34" charset="0"/>
                </a:rPr>
                <a:t>amazon</a:t>
              </a:r>
              <a:endParaRPr lang="en-IN" sz="7200" dirty="0">
                <a:latin typeface="Fira Sans Medium" panose="020B0603050000020004" pitchFamily="34" charset="0"/>
              </a:endParaRPr>
            </a:p>
          </p:txBody>
        </p:sp>
        <p:grpSp>
          <p:nvGrpSpPr>
            <p:cNvPr id="8" name="Group 7">
              <a:extLst>
                <a:ext uri="{FF2B5EF4-FFF2-40B4-BE49-F238E27FC236}">
                  <a16:creationId xmlns:a16="http://schemas.microsoft.com/office/drawing/2014/main" id="{4E10EDE9-81F2-8858-F1A7-C84F6BBE0599}"/>
                </a:ext>
              </a:extLst>
            </p:cNvPr>
            <p:cNvGrpSpPr/>
            <p:nvPr/>
          </p:nvGrpSpPr>
          <p:grpSpPr>
            <a:xfrm>
              <a:off x="4348163" y="3770174"/>
              <a:ext cx="2162175" cy="403669"/>
              <a:chOff x="3184693" y="3692320"/>
              <a:chExt cx="4123771" cy="928898"/>
            </a:xfrm>
            <a:solidFill>
              <a:srgbClr val="FF9900"/>
            </a:solidFill>
          </p:grpSpPr>
          <p:sp>
            <p:nvSpPr>
              <p:cNvPr id="9" name="Freeform: Shape 8">
                <a:extLst>
                  <a:ext uri="{FF2B5EF4-FFF2-40B4-BE49-F238E27FC236}">
                    <a16:creationId xmlns:a16="http://schemas.microsoft.com/office/drawing/2014/main" id="{8A4CED44-DE4F-8C07-6563-DECA00BB60C7}"/>
                  </a:ext>
                </a:extLst>
              </p:cNvPr>
              <p:cNvSpPr/>
              <p:nvPr/>
            </p:nvSpPr>
            <p:spPr>
              <a:xfrm>
                <a:off x="3184693" y="3773539"/>
                <a:ext cx="3760827" cy="847679"/>
              </a:xfrm>
              <a:custGeom>
                <a:avLst/>
                <a:gdLst>
                  <a:gd name="connsiteX0" fmla="*/ 4569032 w 4609853"/>
                  <a:gd name="connsiteY0" fmla="*/ 413392 h 1039050"/>
                  <a:gd name="connsiteX1" fmla="*/ 2522490 w 4609853"/>
                  <a:gd name="connsiteY1" fmla="*/ 1039051 h 1039050"/>
                  <a:gd name="connsiteX2" fmla="*/ 22339 w 4609853"/>
                  <a:gd name="connsiteY2" fmla="*/ 85017 h 1039050"/>
                  <a:gd name="connsiteX3" fmla="*/ 79146 w 4609853"/>
                  <a:gd name="connsiteY3" fmla="*/ 10798 h 1039050"/>
                  <a:gd name="connsiteX4" fmla="*/ 2580535 w 4609853"/>
                  <a:gd name="connsiteY4" fmla="*/ 674186 h 1039050"/>
                  <a:gd name="connsiteX5" fmla="*/ 4488602 w 4609853"/>
                  <a:gd name="connsiteY5" fmla="*/ 284033 h 1039050"/>
                  <a:gd name="connsiteX6" fmla="*/ 4569032 w 4609853"/>
                  <a:gd name="connsiteY6" fmla="*/ 413392 h 103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09853" h="1039050">
                    <a:moveTo>
                      <a:pt x="4569032" y="413392"/>
                    </a:moveTo>
                    <a:cubicBezTo>
                      <a:pt x="4015524" y="821376"/>
                      <a:pt x="3213233" y="1039051"/>
                      <a:pt x="2522490" y="1039051"/>
                    </a:cubicBezTo>
                    <a:cubicBezTo>
                      <a:pt x="1553940" y="1039051"/>
                      <a:pt x="682003" y="680825"/>
                      <a:pt x="22339" y="85017"/>
                    </a:cubicBezTo>
                    <a:cubicBezTo>
                      <a:pt x="-29486" y="38164"/>
                      <a:pt x="16958" y="-25682"/>
                      <a:pt x="79146" y="10798"/>
                    </a:cubicBezTo>
                    <a:cubicBezTo>
                      <a:pt x="791045" y="425003"/>
                      <a:pt x="1671279" y="674186"/>
                      <a:pt x="2580535" y="674186"/>
                    </a:cubicBezTo>
                    <a:cubicBezTo>
                      <a:pt x="3193755" y="674186"/>
                      <a:pt x="3868334" y="547313"/>
                      <a:pt x="4488602" y="284033"/>
                    </a:cubicBezTo>
                    <a:cubicBezTo>
                      <a:pt x="4582300" y="244228"/>
                      <a:pt x="4660662" y="345393"/>
                      <a:pt x="4569032" y="413392"/>
                    </a:cubicBezTo>
                  </a:path>
                </a:pathLst>
              </a:custGeom>
              <a:grpFill/>
              <a:ln w="9525" cap="flat">
                <a:noFill/>
                <a:prstDash val="solid"/>
                <a:miter/>
              </a:ln>
            </p:spPr>
            <p:txBody>
              <a:bodyPr rtlCol="0" anchor="ctr"/>
              <a:lstStyle/>
              <a:p>
                <a:endParaRPr lang="en-IN"/>
              </a:p>
            </p:txBody>
          </p:sp>
          <p:sp>
            <p:nvSpPr>
              <p:cNvPr id="10" name="Freeform: Shape 9">
                <a:extLst>
                  <a:ext uri="{FF2B5EF4-FFF2-40B4-BE49-F238E27FC236}">
                    <a16:creationId xmlns:a16="http://schemas.microsoft.com/office/drawing/2014/main" id="{15F42B21-3154-F4E4-6130-976161315D69}"/>
                  </a:ext>
                </a:extLst>
              </p:cNvPr>
              <p:cNvSpPr/>
              <p:nvPr/>
            </p:nvSpPr>
            <p:spPr>
              <a:xfrm>
                <a:off x="6535428" y="3692320"/>
                <a:ext cx="773036" cy="761368"/>
              </a:xfrm>
              <a:custGeom>
                <a:avLst/>
                <a:gdLst>
                  <a:gd name="connsiteX0" fmla="*/ 691963 w 947553"/>
                  <a:gd name="connsiteY0" fmla="*/ 249669 h 933254"/>
                  <a:gd name="connsiteX1" fmla="*/ 45996 w 947553"/>
                  <a:gd name="connsiteY1" fmla="*/ 228114 h 933254"/>
                  <a:gd name="connsiteX2" fmla="*/ 32309 w 947553"/>
                  <a:gd name="connsiteY2" fmla="*/ 153476 h 933254"/>
                  <a:gd name="connsiteX3" fmla="*/ 928297 w 947553"/>
                  <a:gd name="connsiteY3" fmla="*/ 69723 h 933254"/>
                  <a:gd name="connsiteX4" fmla="*/ 615258 w 947553"/>
                  <a:gd name="connsiteY4" fmla="*/ 913476 h 933254"/>
                  <a:gd name="connsiteX5" fmla="*/ 546430 w 947553"/>
                  <a:gd name="connsiteY5" fmla="*/ 880719 h 933254"/>
                  <a:gd name="connsiteX6" fmla="*/ 691963 w 947553"/>
                  <a:gd name="connsiteY6" fmla="*/ 249669 h 933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47553" h="933254">
                    <a:moveTo>
                      <a:pt x="691963" y="249669"/>
                    </a:moveTo>
                    <a:cubicBezTo>
                      <a:pt x="621477" y="159286"/>
                      <a:pt x="224275" y="206968"/>
                      <a:pt x="45996" y="228114"/>
                    </a:cubicBezTo>
                    <a:cubicBezTo>
                      <a:pt x="-8325" y="234743"/>
                      <a:pt x="-16612" y="187480"/>
                      <a:pt x="32309" y="153476"/>
                    </a:cubicBezTo>
                    <a:cubicBezTo>
                      <a:pt x="348663" y="-69171"/>
                      <a:pt x="867765" y="-4906"/>
                      <a:pt x="928297" y="69723"/>
                    </a:cubicBezTo>
                    <a:cubicBezTo>
                      <a:pt x="988828" y="144770"/>
                      <a:pt x="912543" y="665111"/>
                      <a:pt x="615258" y="913476"/>
                    </a:cubicBezTo>
                    <a:cubicBezTo>
                      <a:pt x="569652" y="951614"/>
                      <a:pt x="526123" y="931297"/>
                      <a:pt x="546430" y="880719"/>
                    </a:cubicBezTo>
                    <a:cubicBezTo>
                      <a:pt x="613191" y="714041"/>
                      <a:pt x="762866" y="340471"/>
                      <a:pt x="691963" y="249669"/>
                    </a:cubicBezTo>
                  </a:path>
                </a:pathLst>
              </a:custGeom>
              <a:grpFill/>
              <a:ln w="9525" cap="flat">
                <a:noFill/>
                <a:prstDash val="solid"/>
                <a:miter/>
              </a:ln>
            </p:spPr>
            <p:txBody>
              <a:bodyPr rtlCol="0" anchor="ctr"/>
              <a:lstStyle/>
              <a:p>
                <a:endParaRPr lang="en-IN"/>
              </a:p>
            </p:txBody>
          </p:sp>
        </p:grpSp>
      </p:grpSp>
      <p:sp>
        <p:nvSpPr>
          <p:cNvPr id="25" name="Graphic 11">
            <a:extLst>
              <a:ext uri="{FF2B5EF4-FFF2-40B4-BE49-F238E27FC236}">
                <a16:creationId xmlns:a16="http://schemas.microsoft.com/office/drawing/2014/main" id="{540932D4-54D6-3670-E7D6-D02D9AECF4B3}"/>
              </a:ext>
            </a:extLst>
          </p:cNvPr>
          <p:cNvSpPr/>
          <p:nvPr/>
        </p:nvSpPr>
        <p:spPr>
          <a:xfrm rot="8901965">
            <a:off x="2258794" y="555042"/>
            <a:ext cx="1370251" cy="1274286"/>
          </a:xfrm>
          <a:custGeom>
            <a:avLst/>
            <a:gdLst>
              <a:gd name="connsiteX0" fmla="*/ 1051454 w 1444799"/>
              <a:gd name="connsiteY0" fmla="*/ 206792 h 1343613"/>
              <a:gd name="connsiteX1" fmla="*/ 1253384 w 1444799"/>
              <a:gd name="connsiteY1" fmla="*/ 532548 h 1343613"/>
              <a:gd name="connsiteX2" fmla="*/ 1443884 w 1444799"/>
              <a:gd name="connsiteY2" fmla="*/ 904023 h 1343613"/>
              <a:gd name="connsiteX3" fmla="*/ 1145752 w 1444799"/>
              <a:gd name="connsiteY3" fmla="*/ 1165960 h 1343613"/>
              <a:gd name="connsiteX4" fmla="*/ 728556 w 1444799"/>
              <a:gd name="connsiteY4" fmla="*/ 1305025 h 1343613"/>
              <a:gd name="connsiteX5" fmla="*/ 267546 w 1444799"/>
              <a:gd name="connsiteY5" fmla="*/ 1305025 h 1343613"/>
              <a:gd name="connsiteX6" fmla="*/ 21801 w 1444799"/>
              <a:gd name="connsiteY6" fmla="*/ 912595 h 1343613"/>
              <a:gd name="connsiteX7" fmla="*/ 64664 w 1444799"/>
              <a:gd name="connsiteY7" fmla="*/ 463968 h 1343613"/>
              <a:gd name="connsiteX8" fmla="*/ 405659 w 1444799"/>
              <a:gd name="connsiteY8" fmla="*/ 187742 h 1343613"/>
              <a:gd name="connsiteX9" fmla="*/ 753321 w 1444799"/>
              <a:gd name="connsiteY9" fmla="*/ 100 h 1343613"/>
              <a:gd name="connsiteX10" fmla="*/ 1051454 w 1444799"/>
              <a:gd name="connsiteY10" fmla="*/ 206792 h 1343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44799" h="1343613">
                <a:moveTo>
                  <a:pt x="1051454" y="206792"/>
                </a:moveTo>
                <a:cubicBezTo>
                  <a:pt x="1128607" y="309663"/>
                  <a:pt x="1171469" y="411580"/>
                  <a:pt x="1253384" y="532548"/>
                </a:cubicBezTo>
                <a:cubicBezTo>
                  <a:pt x="1336252" y="652563"/>
                  <a:pt x="1457219" y="791628"/>
                  <a:pt x="1443884" y="904023"/>
                </a:cubicBezTo>
                <a:cubicBezTo>
                  <a:pt x="1430549" y="1016418"/>
                  <a:pt x="1282912" y="1102143"/>
                  <a:pt x="1145752" y="1165960"/>
                </a:cubicBezTo>
                <a:cubicBezTo>
                  <a:pt x="1008591" y="1228825"/>
                  <a:pt x="880956" y="1269783"/>
                  <a:pt x="728556" y="1305025"/>
                </a:cubicBezTo>
                <a:cubicBezTo>
                  <a:pt x="575204" y="1340268"/>
                  <a:pt x="397086" y="1370748"/>
                  <a:pt x="267546" y="1305025"/>
                </a:cubicBezTo>
                <a:cubicBezTo>
                  <a:pt x="138959" y="1239303"/>
                  <a:pt x="58949" y="1076425"/>
                  <a:pt x="21801" y="912595"/>
                </a:cubicBezTo>
                <a:cubicBezTo>
                  <a:pt x="-14394" y="748765"/>
                  <a:pt x="-8679" y="583030"/>
                  <a:pt x="64664" y="463968"/>
                </a:cubicBezTo>
                <a:cubicBezTo>
                  <a:pt x="138006" y="345858"/>
                  <a:pt x="278976" y="274420"/>
                  <a:pt x="405659" y="187742"/>
                </a:cubicBezTo>
                <a:cubicBezTo>
                  <a:pt x="531389" y="101065"/>
                  <a:pt x="642831" y="100"/>
                  <a:pt x="753321" y="100"/>
                </a:cubicBezTo>
                <a:cubicBezTo>
                  <a:pt x="864764" y="1052"/>
                  <a:pt x="974301" y="104875"/>
                  <a:pt x="1051454" y="206792"/>
                </a:cubicBezTo>
                <a:close/>
              </a:path>
            </a:pathLst>
          </a:custGeom>
          <a:solidFill>
            <a:srgbClr val="FF9900"/>
          </a:solidFill>
          <a:ln w="9525" cap="flat">
            <a:noFill/>
            <a:prstDash val="solid"/>
            <a:miter/>
          </a:ln>
        </p:spPr>
        <p:txBody>
          <a:bodyPr rtlCol="0" anchor="ctr"/>
          <a:lstStyle/>
          <a:p>
            <a:endParaRPr lang="en-IN" dirty="0"/>
          </a:p>
        </p:txBody>
      </p:sp>
      <p:pic>
        <p:nvPicPr>
          <p:cNvPr id="2050" name="Picture 2" descr="Amazon PowerPoint by SlideGenius PowerPoint Design Specialists - YouTube">
            <a:extLst>
              <a:ext uri="{FF2B5EF4-FFF2-40B4-BE49-F238E27FC236}">
                <a16:creationId xmlns:a16="http://schemas.microsoft.com/office/drawing/2014/main" id="{46B5CC37-3125-2C75-744A-F0829D44B1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67" y="-870387"/>
            <a:ext cx="12230099" cy="816218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77920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51D768DA-1DA7-4CBE-8E6C-2229D90C9DE0}"/>
              </a:ext>
            </a:extLst>
          </p:cNvPr>
          <p:cNvSpPr/>
          <p:nvPr/>
        </p:nvSpPr>
        <p:spPr>
          <a:xfrm>
            <a:off x="0" y="-324873"/>
            <a:ext cx="4372860" cy="7508753"/>
          </a:xfrm>
          <a:custGeom>
            <a:avLst/>
            <a:gdLst>
              <a:gd name="connsiteX0" fmla="*/ 2661351 w 4372860"/>
              <a:gd name="connsiteY0" fmla="*/ 1435 h 7508753"/>
              <a:gd name="connsiteX1" fmla="*/ 4282136 w 4372860"/>
              <a:gd name="connsiteY1" fmla="*/ 739952 h 7508753"/>
              <a:gd name="connsiteX2" fmla="*/ 4175271 w 4372860"/>
              <a:gd name="connsiteY2" fmla="*/ 3127041 h 7508753"/>
              <a:gd name="connsiteX3" fmla="*/ 4164583 w 4372860"/>
              <a:gd name="connsiteY3" fmla="*/ 5152012 h 7508753"/>
              <a:gd name="connsiteX4" fmla="*/ 3477088 w 4372860"/>
              <a:gd name="connsiteY4" fmla="*/ 7200814 h 7508753"/>
              <a:gd name="connsiteX5" fmla="*/ 1951028 w 4372860"/>
              <a:gd name="connsiteY5" fmla="*/ 7350182 h 7508753"/>
              <a:gd name="connsiteX6" fmla="*/ 1790700 w 4372860"/>
              <a:gd name="connsiteY6" fmla="*/ 7268067 h 7508753"/>
              <a:gd name="connsiteX7" fmla="*/ 1790700 w 4372860"/>
              <a:gd name="connsiteY7" fmla="*/ 7360673 h 7508753"/>
              <a:gd name="connsiteX8" fmla="*/ 0 w 4372860"/>
              <a:gd name="connsiteY8" fmla="*/ 7360673 h 7508753"/>
              <a:gd name="connsiteX9" fmla="*/ 0 w 4372860"/>
              <a:gd name="connsiteY9" fmla="*/ 185173 h 7508753"/>
              <a:gd name="connsiteX10" fmla="*/ 1659303 w 4372860"/>
              <a:gd name="connsiteY10" fmla="*/ 185173 h 7508753"/>
              <a:gd name="connsiteX11" fmla="*/ 1661275 w 4372860"/>
              <a:gd name="connsiteY11" fmla="*/ 184277 h 7508753"/>
              <a:gd name="connsiteX12" fmla="*/ 2661351 w 4372860"/>
              <a:gd name="connsiteY12" fmla="*/ 1435 h 7508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372860" h="7508753">
                <a:moveTo>
                  <a:pt x="2661351" y="1435"/>
                </a:moveTo>
                <a:cubicBezTo>
                  <a:pt x="3355974" y="-17624"/>
                  <a:pt x="4057718" y="149141"/>
                  <a:pt x="4282136" y="739952"/>
                </a:cubicBezTo>
                <a:cubicBezTo>
                  <a:pt x="4506550" y="1335535"/>
                  <a:pt x="4253639" y="2350402"/>
                  <a:pt x="4175271" y="3127041"/>
                </a:cubicBezTo>
                <a:cubicBezTo>
                  <a:pt x="4100464" y="3898913"/>
                  <a:pt x="4207329" y="4432554"/>
                  <a:pt x="4164583" y="5152012"/>
                </a:cubicBezTo>
                <a:cubicBezTo>
                  <a:pt x="4118277" y="5871476"/>
                  <a:pt x="3929480" y="6771996"/>
                  <a:pt x="3477088" y="7200814"/>
                </a:cubicBezTo>
                <a:cubicBezTo>
                  <a:pt x="3081241" y="7576030"/>
                  <a:pt x="2489032" y="7586452"/>
                  <a:pt x="1951028" y="7350182"/>
                </a:cubicBezTo>
                <a:lnTo>
                  <a:pt x="1790700" y="7268067"/>
                </a:lnTo>
                <a:lnTo>
                  <a:pt x="1790700" y="7360673"/>
                </a:lnTo>
                <a:lnTo>
                  <a:pt x="0" y="7360673"/>
                </a:lnTo>
                <a:lnTo>
                  <a:pt x="0" y="185173"/>
                </a:lnTo>
                <a:lnTo>
                  <a:pt x="1659303" y="185173"/>
                </a:lnTo>
                <a:lnTo>
                  <a:pt x="1661275" y="184277"/>
                </a:lnTo>
                <a:cubicBezTo>
                  <a:pt x="1972964" y="63374"/>
                  <a:pt x="2315821" y="8581"/>
                  <a:pt x="2661351" y="1435"/>
                </a:cubicBezTo>
                <a:close/>
              </a:path>
            </a:pathLst>
          </a:custGeom>
          <a:solidFill>
            <a:srgbClr val="13192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30" name="TextBox 29">
            <a:extLst>
              <a:ext uri="{FF2B5EF4-FFF2-40B4-BE49-F238E27FC236}">
                <a16:creationId xmlns:a16="http://schemas.microsoft.com/office/drawing/2014/main" id="{8BDC5375-5814-427B-930D-D88EDD79BF3F}"/>
              </a:ext>
            </a:extLst>
          </p:cNvPr>
          <p:cNvSpPr txBox="1"/>
          <p:nvPr/>
        </p:nvSpPr>
        <p:spPr>
          <a:xfrm>
            <a:off x="624664" y="2942769"/>
            <a:ext cx="2701381" cy="830997"/>
          </a:xfrm>
          <a:prstGeom prst="rect">
            <a:avLst/>
          </a:prstGeom>
          <a:noFill/>
        </p:spPr>
        <p:txBody>
          <a:bodyPr wrap="none" rtlCol="0">
            <a:spAutoFit/>
          </a:bodyPr>
          <a:lstStyle/>
          <a:p>
            <a:r>
              <a:rPr lang="en-IN" sz="4800" dirty="0">
                <a:solidFill>
                  <a:schemeClr val="bg1"/>
                </a:solidFill>
                <a:latin typeface="Fira Sans Medium" panose="020B0603050000020004" pitchFamily="34" charset="0"/>
              </a:rPr>
              <a:t>Contents</a:t>
            </a:r>
            <a:endParaRPr lang="en-IN" sz="4000" dirty="0">
              <a:solidFill>
                <a:schemeClr val="bg1"/>
              </a:solidFill>
              <a:latin typeface="Fira Sans Medium" panose="020B0603050000020004" pitchFamily="34" charset="0"/>
            </a:endParaRPr>
          </a:p>
        </p:txBody>
      </p:sp>
      <p:sp>
        <p:nvSpPr>
          <p:cNvPr id="31" name="TextBox 30">
            <a:extLst>
              <a:ext uri="{FF2B5EF4-FFF2-40B4-BE49-F238E27FC236}">
                <a16:creationId xmlns:a16="http://schemas.microsoft.com/office/drawing/2014/main" id="{26C68557-04C1-488C-9420-F0487C59CFAE}"/>
              </a:ext>
            </a:extLst>
          </p:cNvPr>
          <p:cNvSpPr txBox="1"/>
          <p:nvPr/>
        </p:nvSpPr>
        <p:spPr>
          <a:xfrm>
            <a:off x="6761445" y="703026"/>
            <a:ext cx="2348787" cy="385234"/>
          </a:xfrm>
          <a:prstGeom prst="rect">
            <a:avLst/>
          </a:prstGeom>
          <a:noFill/>
        </p:spPr>
        <p:txBody>
          <a:bodyPr wrap="square" rtlCol="0">
            <a:spAutoFit/>
          </a:bodyPr>
          <a:lstStyle/>
          <a:p>
            <a:pPr>
              <a:lnSpc>
                <a:spcPct val="130000"/>
              </a:lnSpc>
            </a:pPr>
            <a:r>
              <a:rPr lang="en-US" sz="1600" b="1" dirty="0">
                <a:solidFill>
                  <a:srgbClr val="000000"/>
                </a:solidFill>
                <a:latin typeface="Inter" panose="020B0604020202020204" charset="0"/>
              </a:rPr>
              <a:t>I</a:t>
            </a:r>
            <a:r>
              <a:rPr lang="en-US" sz="1600" b="1" i="0" dirty="0">
                <a:solidFill>
                  <a:srgbClr val="000000"/>
                </a:solidFill>
                <a:effectLst/>
                <a:latin typeface="Inter" panose="020B0604020202020204" charset="0"/>
              </a:rPr>
              <a:t>ntroduction</a:t>
            </a:r>
            <a:endParaRPr lang="en-IN" dirty="0">
              <a:latin typeface="Fira Sans Medium" panose="020B0603050000020004" pitchFamily="34" charset="0"/>
            </a:endParaRPr>
          </a:p>
        </p:txBody>
      </p:sp>
      <p:sp>
        <p:nvSpPr>
          <p:cNvPr id="32" name="TextBox 31">
            <a:extLst>
              <a:ext uri="{FF2B5EF4-FFF2-40B4-BE49-F238E27FC236}">
                <a16:creationId xmlns:a16="http://schemas.microsoft.com/office/drawing/2014/main" id="{189F3F56-1988-439E-BA2E-26475C3AB60B}"/>
              </a:ext>
            </a:extLst>
          </p:cNvPr>
          <p:cNvSpPr txBox="1"/>
          <p:nvPr/>
        </p:nvSpPr>
        <p:spPr>
          <a:xfrm>
            <a:off x="6761445" y="1495993"/>
            <a:ext cx="3246154" cy="385618"/>
          </a:xfrm>
          <a:prstGeom prst="rect">
            <a:avLst/>
          </a:prstGeom>
          <a:noFill/>
        </p:spPr>
        <p:txBody>
          <a:bodyPr wrap="square" rtlCol="0">
            <a:spAutoFit/>
          </a:bodyPr>
          <a:lstStyle/>
          <a:p>
            <a:pPr>
              <a:lnSpc>
                <a:spcPct val="130000"/>
              </a:lnSpc>
            </a:pPr>
            <a:r>
              <a:rPr lang="en-US" sz="1600" b="1" i="0" dirty="0">
                <a:solidFill>
                  <a:srgbClr val="000000"/>
                </a:solidFill>
                <a:effectLst/>
                <a:latin typeface="Inter" panose="020B0604020202020204" charset="0"/>
              </a:rPr>
              <a:t>Exploratory Data Analysis</a:t>
            </a:r>
            <a:r>
              <a:rPr lang="en-US" sz="1600" b="0" i="0" dirty="0">
                <a:solidFill>
                  <a:srgbClr val="000000"/>
                </a:solidFill>
                <a:effectLst/>
                <a:latin typeface="Inter" panose="020B0604020202020204" charset="0"/>
              </a:rPr>
              <a:t> </a:t>
            </a:r>
            <a:endParaRPr lang="en-IN" dirty="0">
              <a:latin typeface="Fira Sans Medium" panose="020B0603050000020004" pitchFamily="34" charset="0"/>
            </a:endParaRPr>
          </a:p>
        </p:txBody>
      </p:sp>
      <p:sp>
        <p:nvSpPr>
          <p:cNvPr id="33" name="TextBox 32">
            <a:extLst>
              <a:ext uri="{FF2B5EF4-FFF2-40B4-BE49-F238E27FC236}">
                <a16:creationId xmlns:a16="http://schemas.microsoft.com/office/drawing/2014/main" id="{5C9B9B7F-18A8-4C58-AAF2-3FB3E1D83597}"/>
              </a:ext>
            </a:extLst>
          </p:cNvPr>
          <p:cNvSpPr txBox="1"/>
          <p:nvPr/>
        </p:nvSpPr>
        <p:spPr>
          <a:xfrm>
            <a:off x="6761444" y="2344605"/>
            <a:ext cx="2348787" cy="385234"/>
          </a:xfrm>
          <a:prstGeom prst="rect">
            <a:avLst/>
          </a:prstGeom>
          <a:noFill/>
        </p:spPr>
        <p:txBody>
          <a:bodyPr wrap="square" rtlCol="0">
            <a:spAutoFit/>
          </a:bodyPr>
          <a:lstStyle/>
          <a:p>
            <a:pPr>
              <a:lnSpc>
                <a:spcPct val="130000"/>
              </a:lnSpc>
            </a:pPr>
            <a:r>
              <a:rPr lang="en-US" sz="1600" b="1" dirty="0">
                <a:solidFill>
                  <a:srgbClr val="000000"/>
                </a:solidFill>
                <a:latin typeface="Inter" panose="020B0604020202020204" charset="0"/>
              </a:rPr>
              <a:t>C</a:t>
            </a:r>
            <a:r>
              <a:rPr lang="en-US" sz="1600" b="1" i="0" dirty="0">
                <a:solidFill>
                  <a:srgbClr val="000000"/>
                </a:solidFill>
                <a:effectLst/>
                <a:latin typeface="Inter" panose="020B0604020202020204" charset="0"/>
              </a:rPr>
              <a:t>lassification</a:t>
            </a:r>
            <a:endParaRPr lang="en-IN" dirty="0">
              <a:latin typeface="Fira Sans Medium" panose="020B0603050000020004" pitchFamily="34" charset="0"/>
            </a:endParaRPr>
          </a:p>
        </p:txBody>
      </p:sp>
      <p:sp>
        <p:nvSpPr>
          <p:cNvPr id="34" name="TextBox 33">
            <a:extLst>
              <a:ext uri="{FF2B5EF4-FFF2-40B4-BE49-F238E27FC236}">
                <a16:creationId xmlns:a16="http://schemas.microsoft.com/office/drawing/2014/main" id="{C382D672-5F99-41CB-9E9E-873E1E7D3065}"/>
              </a:ext>
            </a:extLst>
          </p:cNvPr>
          <p:cNvSpPr txBox="1"/>
          <p:nvPr/>
        </p:nvSpPr>
        <p:spPr>
          <a:xfrm>
            <a:off x="6761443" y="3088948"/>
            <a:ext cx="2348787" cy="385234"/>
          </a:xfrm>
          <a:prstGeom prst="rect">
            <a:avLst/>
          </a:prstGeom>
          <a:noFill/>
        </p:spPr>
        <p:txBody>
          <a:bodyPr wrap="square" rtlCol="0">
            <a:spAutoFit/>
          </a:bodyPr>
          <a:lstStyle/>
          <a:p>
            <a:pPr>
              <a:lnSpc>
                <a:spcPct val="130000"/>
              </a:lnSpc>
            </a:pPr>
            <a:r>
              <a:rPr lang="en-IN" sz="1600" b="1" dirty="0">
                <a:latin typeface="Inter" panose="020B0604020202020204" charset="0"/>
                <a:ea typeface="Inter" panose="020B0604020202020204" charset="0"/>
                <a:cs typeface="Inter" panose="020B0604020202020204" charset="0"/>
              </a:rPr>
              <a:t>Clustering</a:t>
            </a:r>
            <a:endParaRPr lang="en-IN" b="1" dirty="0">
              <a:latin typeface="Inter" panose="020B0604020202020204" charset="0"/>
              <a:ea typeface="Inter" panose="020B0604020202020204" charset="0"/>
              <a:cs typeface="Inter" panose="020B0604020202020204" charset="0"/>
            </a:endParaRPr>
          </a:p>
        </p:txBody>
      </p:sp>
      <p:sp>
        <p:nvSpPr>
          <p:cNvPr id="35" name="TextBox 34">
            <a:extLst>
              <a:ext uri="{FF2B5EF4-FFF2-40B4-BE49-F238E27FC236}">
                <a16:creationId xmlns:a16="http://schemas.microsoft.com/office/drawing/2014/main" id="{9463D3C9-2C80-4CBA-9EB0-56C1A4688153}"/>
              </a:ext>
            </a:extLst>
          </p:cNvPr>
          <p:cNvSpPr txBox="1"/>
          <p:nvPr/>
        </p:nvSpPr>
        <p:spPr>
          <a:xfrm>
            <a:off x="6761442" y="3857482"/>
            <a:ext cx="2348787" cy="385234"/>
          </a:xfrm>
          <a:prstGeom prst="rect">
            <a:avLst/>
          </a:prstGeom>
          <a:noFill/>
        </p:spPr>
        <p:txBody>
          <a:bodyPr wrap="square" rtlCol="0">
            <a:spAutoFit/>
          </a:bodyPr>
          <a:lstStyle/>
          <a:p>
            <a:pPr>
              <a:lnSpc>
                <a:spcPct val="130000"/>
              </a:lnSpc>
            </a:pPr>
            <a:r>
              <a:rPr lang="en-US" sz="1600" b="1" dirty="0">
                <a:solidFill>
                  <a:srgbClr val="000000"/>
                </a:solidFill>
                <a:latin typeface="Inter" panose="020B0604020202020204" charset="0"/>
              </a:rPr>
              <a:t>S</a:t>
            </a:r>
            <a:r>
              <a:rPr lang="en-US" sz="1600" b="1" i="0" dirty="0">
                <a:solidFill>
                  <a:srgbClr val="000000"/>
                </a:solidFill>
                <a:effectLst/>
                <a:latin typeface="Inter" panose="020B0604020202020204" charset="0"/>
              </a:rPr>
              <a:t>ummarize</a:t>
            </a:r>
            <a:endParaRPr lang="en-IN" sz="1600" dirty="0">
              <a:latin typeface="Fira Sans Medium" panose="020B0603050000020004" pitchFamily="34" charset="0"/>
            </a:endParaRPr>
          </a:p>
        </p:txBody>
      </p:sp>
      <p:sp>
        <p:nvSpPr>
          <p:cNvPr id="36" name="TextBox 35">
            <a:extLst>
              <a:ext uri="{FF2B5EF4-FFF2-40B4-BE49-F238E27FC236}">
                <a16:creationId xmlns:a16="http://schemas.microsoft.com/office/drawing/2014/main" id="{88966208-5B6C-48D9-B93A-D29B368A5542}"/>
              </a:ext>
            </a:extLst>
          </p:cNvPr>
          <p:cNvSpPr txBox="1"/>
          <p:nvPr/>
        </p:nvSpPr>
        <p:spPr>
          <a:xfrm>
            <a:off x="6793148" y="4740806"/>
            <a:ext cx="2348787" cy="385234"/>
          </a:xfrm>
          <a:prstGeom prst="rect">
            <a:avLst/>
          </a:prstGeom>
          <a:noFill/>
        </p:spPr>
        <p:txBody>
          <a:bodyPr wrap="square" rtlCol="0">
            <a:spAutoFit/>
          </a:bodyPr>
          <a:lstStyle/>
          <a:p>
            <a:pPr>
              <a:lnSpc>
                <a:spcPct val="130000"/>
              </a:lnSpc>
            </a:pPr>
            <a:r>
              <a:rPr lang="en-US" sz="1600" b="1" i="0" dirty="0">
                <a:solidFill>
                  <a:srgbClr val="000000"/>
                </a:solidFill>
                <a:effectLst/>
                <a:latin typeface="Inter" panose="020B0604020202020204" charset="0"/>
              </a:rPr>
              <a:t>Major Obstacle</a:t>
            </a:r>
            <a:endParaRPr lang="en-IN" sz="1600" dirty="0">
              <a:latin typeface="Fira Sans Medium" panose="020B0603050000020004" pitchFamily="34" charset="0"/>
            </a:endParaRPr>
          </a:p>
        </p:txBody>
      </p:sp>
      <p:grpSp>
        <p:nvGrpSpPr>
          <p:cNvPr id="44" name="Group 43">
            <a:extLst>
              <a:ext uri="{FF2B5EF4-FFF2-40B4-BE49-F238E27FC236}">
                <a16:creationId xmlns:a16="http://schemas.microsoft.com/office/drawing/2014/main" id="{7C1C0611-29CB-4817-A0BC-F7BF53A734A8}"/>
              </a:ext>
            </a:extLst>
          </p:cNvPr>
          <p:cNvGrpSpPr/>
          <p:nvPr/>
        </p:nvGrpSpPr>
        <p:grpSpPr>
          <a:xfrm>
            <a:off x="6083543" y="815056"/>
            <a:ext cx="179695" cy="5238611"/>
            <a:chOff x="5198867" y="938018"/>
            <a:chExt cx="161716" cy="5129407"/>
          </a:xfrm>
        </p:grpSpPr>
        <p:cxnSp>
          <p:nvCxnSpPr>
            <p:cNvPr id="12" name="Straight Connector 11">
              <a:extLst>
                <a:ext uri="{FF2B5EF4-FFF2-40B4-BE49-F238E27FC236}">
                  <a16:creationId xmlns:a16="http://schemas.microsoft.com/office/drawing/2014/main" id="{9A4C75BB-2684-4FC5-8A3B-909FB4A17999}"/>
                </a:ext>
              </a:extLst>
            </p:cNvPr>
            <p:cNvCxnSpPr>
              <a:cxnSpLocks/>
            </p:cNvCxnSpPr>
            <p:nvPr/>
          </p:nvCxnSpPr>
          <p:spPr>
            <a:xfrm>
              <a:off x="5276849" y="1016000"/>
              <a:ext cx="0" cy="5051425"/>
            </a:xfrm>
            <a:prstGeom prst="line">
              <a:avLst/>
            </a:prstGeom>
            <a:ln w="38100" cap="rnd">
              <a:solidFill>
                <a:schemeClr val="tx1">
                  <a:lumMod val="65000"/>
                  <a:lumOff val="35000"/>
                  <a:alpha val="80000"/>
                </a:schemeClr>
              </a:solidFill>
              <a:prstDash val="sysDot"/>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1C28BED4-C907-42EB-BA8D-D0AB5A841AF8}"/>
                </a:ext>
              </a:extLst>
            </p:cNvPr>
            <p:cNvSpPr/>
            <p:nvPr/>
          </p:nvSpPr>
          <p:spPr>
            <a:xfrm>
              <a:off x="5198868" y="938018"/>
              <a:ext cx="155963" cy="155963"/>
            </a:xfrm>
            <a:prstGeom prst="ellipse">
              <a:avLst/>
            </a:prstGeom>
            <a:solidFill>
              <a:srgbClr val="FF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Oval 20">
              <a:extLst>
                <a:ext uri="{FF2B5EF4-FFF2-40B4-BE49-F238E27FC236}">
                  <a16:creationId xmlns:a16="http://schemas.microsoft.com/office/drawing/2014/main" id="{20E494FF-2B0F-4AF2-BB3F-F356831C2AA7}"/>
                </a:ext>
              </a:extLst>
            </p:cNvPr>
            <p:cNvSpPr/>
            <p:nvPr/>
          </p:nvSpPr>
          <p:spPr>
            <a:xfrm>
              <a:off x="5198868" y="1780141"/>
              <a:ext cx="155963" cy="155963"/>
            </a:xfrm>
            <a:prstGeom prst="ellipse">
              <a:avLst/>
            </a:prstGeom>
            <a:solidFill>
              <a:srgbClr val="FF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Oval 21">
              <a:extLst>
                <a:ext uri="{FF2B5EF4-FFF2-40B4-BE49-F238E27FC236}">
                  <a16:creationId xmlns:a16="http://schemas.microsoft.com/office/drawing/2014/main" id="{1FB5A5CD-C6FE-4A85-B64D-9A297D73FA9C}"/>
                </a:ext>
              </a:extLst>
            </p:cNvPr>
            <p:cNvSpPr/>
            <p:nvPr/>
          </p:nvSpPr>
          <p:spPr>
            <a:xfrm>
              <a:off x="5204620" y="2553938"/>
              <a:ext cx="155963" cy="155963"/>
            </a:xfrm>
            <a:prstGeom prst="ellipse">
              <a:avLst/>
            </a:prstGeom>
            <a:solidFill>
              <a:srgbClr val="FF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Oval 22">
              <a:extLst>
                <a:ext uri="{FF2B5EF4-FFF2-40B4-BE49-F238E27FC236}">
                  <a16:creationId xmlns:a16="http://schemas.microsoft.com/office/drawing/2014/main" id="{E0ED9E14-D1D3-47D6-84CE-60ACBFCA09C9}"/>
                </a:ext>
              </a:extLst>
            </p:cNvPr>
            <p:cNvSpPr/>
            <p:nvPr/>
          </p:nvSpPr>
          <p:spPr>
            <a:xfrm>
              <a:off x="5204620" y="3327735"/>
              <a:ext cx="155963" cy="155963"/>
            </a:xfrm>
            <a:prstGeom prst="ellipse">
              <a:avLst/>
            </a:prstGeom>
            <a:solidFill>
              <a:srgbClr val="FF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Oval 23">
              <a:extLst>
                <a:ext uri="{FF2B5EF4-FFF2-40B4-BE49-F238E27FC236}">
                  <a16:creationId xmlns:a16="http://schemas.microsoft.com/office/drawing/2014/main" id="{0C54AD29-E340-4100-AEAF-2BFD671E827F}"/>
                </a:ext>
              </a:extLst>
            </p:cNvPr>
            <p:cNvSpPr/>
            <p:nvPr/>
          </p:nvSpPr>
          <p:spPr>
            <a:xfrm>
              <a:off x="5198867" y="4060076"/>
              <a:ext cx="155963" cy="155963"/>
            </a:xfrm>
            <a:prstGeom prst="ellipse">
              <a:avLst/>
            </a:prstGeom>
            <a:solidFill>
              <a:srgbClr val="FF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Oval 24">
              <a:extLst>
                <a:ext uri="{FF2B5EF4-FFF2-40B4-BE49-F238E27FC236}">
                  <a16:creationId xmlns:a16="http://schemas.microsoft.com/office/drawing/2014/main" id="{965F061A-4290-44CA-A3DC-9E69882AF9E9}"/>
                </a:ext>
              </a:extLst>
            </p:cNvPr>
            <p:cNvSpPr/>
            <p:nvPr/>
          </p:nvSpPr>
          <p:spPr>
            <a:xfrm>
              <a:off x="5204620" y="4911855"/>
              <a:ext cx="155963" cy="155963"/>
            </a:xfrm>
            <a:prstGeom prst="ellipse">
              <a:avLst/>
            </a:prstGeom>
            <a:solidFill>
              <a:srgbClr val="FF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Oval 25">
              <a:extLst>
                <a:ext uri="{FF2B5EF4-FFF2-40B4-BE49-F238E27FC236}">
                  <a16:creationId xmlns:a16="http://schemas.microsoft.com/office/drawing/2014/main" id="{6F45837C-36A9-453E-9797-13E5AD22484F}"/>
                </a:ext>
              </a:extLst>
            </p:cNvPr>
            <p:cNvSpPr/>
            <p:nvPr/>
          </p:nvSpPr>
          <p:spPr>
            <a:xfrm>
              <a:off x="5198867" y="5878823"/>
              <a:ext cx="155963" cy="155963"/>
            </a:xfrm>
            <a:prstGeom prst="ellipse">
              <a:avLst/>
            </a:prstGeom>
            <a:solidFill>
              <a:srgbClr val="FF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40" name="TextBox 39">
            <a:extLst>
              <a:ext uri="{FF2B5EF4-FFF2-40B4-BE49-F238E27FC236}">
                <a16:creationId xmlns:a16="http://schemas.microsoft.com/office/drawing/2014/main" id="{6381D9B4-93B7-42F2-8D32-8ED071BC3419}"/>
              </a:ext>
            </a:extLst>
          </p:cNvPr>
          <p:cNvSpPr txBox="1"/>
          <p:nvPr/>
        </p:nvSpPr>
        <p:spPr>
          <a:xfrm>
            <a:off x="6761865" y="5668433"/>
            <a:ext cx="2348787" cy="385234"/>
          </a:xfrm>
          <a:prstGeom prst="rect">
            <a:avLst/>
          </a:prstGeom>
          <a:noFill/>
        </p:spPr>
        <p:txBody>
          <a:bodyPr wrap="square" rtlCol="0">
            <a:spAutoFit/>
          </a:bodyPr>
          <a:lstStyle/>
          <a:p>
            <a:pPr>
              <a:lnSpc>
                <a:spcPct val="130000"/>
              </a:lnSpc>
            </a:pPr>
            <a:r>
              <a:rPr lang="en-US" sz="1600" b="1" dirty="0">
                <a:solidFill>
                  <a:srgbClr val="000000"/>
                </a:solidFill>
                <a:latin typeface="Inter" panose="020B0604020202020204" charset="0"/>
              </a:rPr>
              <a:t>D</a:t>
            </a:r>
            <a:r>
              <a:rPr lang="en-US" sz="1600" b="1" i="0" dirty="0">
                <a:solidFill>
                  <a:srgbClr val="000000"/>
                </a:solidFill>
                <a:effectLst/>
                <a:latin typeface="Inter" panose="020B0604020202020204" charset="0"/>
              </a:rPr>
              <a:t>eployment</a:t>
            </a:r>
            <a:endParaRPr lang="en-IN" sz="1600" dirty="0">
              <a:latin typeface="Fira Sans Medium" panose="020B0603050000020004" pitchFamily="34" charset="0"/>
            </a:endParaRPr>
          </a:p>
        </p:txBody>
      </p:sp>
      <p:sp>
        <p:nvSpPr>
          <p:cNvPr id="47" name="Graphic 4">
            <a:extLst>
              <a:ext uri="{FF2B5EF4-FFF2-40B4-BE49-F238E27FC236}">
                <a16:creationId xmlns:a16="http://schemas.microsoft.com/office/drawing/2014/main" id="{FDE3956F-D0F9-4520-9EDA-791F817D6CBB}"/>
              </a:ext>
            </a:extLst>
          </p:cNvPr>
          <p:cNvSpPr/>
          <p:nvPr/>
        </p:nvSpPr>
        <p:spPr>
          <a:xfrm rot="12382247">
            <a:off x="11217169" y="4896190"/>
            <a:ext cx="1251936" cy="2210578"/>
          </a:xfrm>
          <a:custGeom>
            <a:avLst/>
            <a:gdLst>
              <a:gd name="connsiteX0" fmla="*/ 1112933 w 1137091"/>
              <a:gd name="connsiteY0" fmla="*/ 148024 h 1501074"/>
              <a:gd name="connsiteX1" fmla="*/ 1084358 w 1137091"/>
              <a:gd name="connsiteY1" fmla="*/ 625227 h 1501074"/>
              <a:gd name="connsiteX2" fmla="*/ 1081500 w 1137091"/>
              <a:gd name="connsiteY2" fmla="*/ 1030039 h 1501074"/>
              <a:gd name="connsiteX3" fmla="*/ 897668 w 1137091"/>
              <a:gd name="connsiteY3" fmla="*/ 1439615 h 1501074"/>
              <a:gd name="connsiteX4" fmla="*/ 429038 w 1137091"/>
              <a:gd name="connsiteY4" fmla="*/ 1446282 h 1501074"/>
              <a:gd name="connsiteX5" fmla="*/ 74708 w 1137091"/>
              <a:gd name="connsiteY5" fmla="*/ 1096715 h 1501074"/>
              <a:gd name="connsiteX6" fmla="*/ 7080 w 1137091"/>
              <a:gd name="connsiteY6" fmla="*/ 609035 h 1501074"/>
              <a:gd name="connsiteX7" fmla="*/ 194723 w 1137091"/>
              <a:gd name="connsiteY7" fmla="*/ 152787 h 1501074"/>
              <a:gd name="connsiteX8" fmla="*/ 679545 w 1137091"/>
              <a:gd name="connsiteY8" fmla="*/ 387 h 1501074"/>
              <a:gd name="connsiteX9" fmla="*/ 1112933 w 1137091"/>
              <a:gd name="connsiteY9" fmla="*/ 148024 h 1501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37091" h="1501074">
                <a:moveTo>
                  <a:pt x="1112933" y="148024"/>
                </a:moveTo>
                <a:cubicBezTo>
                  <a:pt x="1172940" y="267087"/>
                  <a:pt x="1105313" y="469969"/>
                  <a:pt x="1084358" y="625227"/>
                </a:cubicBezTo>
                <a:cubicBezTo>
                  <a:pt x="1064355" y="779532"/>
                  <a:pt x="1092930" y="886212"/>
                  <a:pt x="1081500" y="1030039"/>
                </a:cubicBezTo>
                <a:cubicBezTo>
                  <a:pt x="1069118" y="1173867"/>
                  <a:pt x="1018635" y="1353890"/>
                  <a:pt x="897668" y="1439615"/>
                </a:cubicBezTo>
                <a:cubicBezTo>
                  <a:pt x="776700" y="1525340"/>
                  <a:pt x="587153" y="1515815"/>
                  <a:pt x="429038" y="1446282"/>
                </a:cubicBezTo>
                <a:cubicBezTo>
                  <a:pt x="270923" y="1375797"/>
                  <a:pt x="146145" y="1246257"/>
                  <a:pt x="74708" y="1096715"/>
                </a:cubicBezTo>
                <a:cubicBezTo>
                  <a:pt x="4223" y="948125"/>
                  <a:pt x="-11017" y="780485"/>
                  <a:pt x="7080" y="609035"/>
                </a:cubicBezTo>
                <a:cubicBezTo>
                  <a:pt x="25178" y="436632"/>
                  <a:pt x="77565" y="261372"/>
                  <a:pt x="194723" y="152787"/>
                </a:cubicBezTo>
                <a:cubicBezTo>
                  <a:pt x="312833" y="44202"/>
                  <a:pt x="494760" y="3244"/>
                  <a:pt x="679545" y="387"/>
                </a:cubicBezTo>
                <a:cubicBezTo>
                  <a:pt x="865283" y="-3423"/>
                  <a:pt x="1052925" y="29915"/>
                  <a:pt x="1112933" y="148024"/>
                </a:cubicBezTo>
                <a:close/>
              </a:path>
            </a:pathLst>
          </a:custGeom>
          <a:solidFill>
            <a:srgbClr val="131921"/>
          </a:solidFill>
          <a:ln w="9525" cap="flat">
            <a:noFill/>
            <a:prstDash val="solid"/>
            <a:miter/>
          </a:ln>
        </p:spPr>
        <p:txBody>
          <a:bodyPr rtlCol="0" anchor="ctr"/>
          <a:lstStyle/>
          <a:p>
            <a:endParaRPr lang="en-IN" dirty="0"/>
          </a:p>
        </p:txBody>
      </p:sp>
      <p:sp>
        <p:nvSpPr>
          <p:cNvPr id="48" name="Graphic 4">
            <a:extLst>
              <a:ext uri="{FF2B5EF4-FFF2-40B4-BE49-F238E27FC236}">
                <a16:creationId xmlns:a16="http://schemas.microsoft.com/office/drawing/2014/main" id="{145D7E10-549D-49F4-A303-0DA5C5A7C5DD}"/>
              </a:ext>
            </a:extLst>
          </p:cNvPr>
          <p:cNvSpPr/>
          <p:nvPr/>
        </p:nvSpPr>
        <p:spPr>
          <a:xfrm rot="3308474" flipH="1">
            <a:off x="11102532" y="5638359"/>
            <a:ext cx="1251936" cy="2210578"/>
          </a:xfrm>
          <a:custGeom>
            <a:avLst/>
            <a:gdLst>
              <a:gd name="connsiteX0" fmla="*/ 1112933 w 1137091"/>
              <a:gd name="connsiteY0" fmla="*/ 148024 h 1501074"/>
              <a:gd name="connsiteX1" fmla="*/ 1084358 w 1137091"/>
              <a:gd name="connsiteY1" fmla="*/ 625227 h 1501074"/>
              <a:gd name="connsiteX2" fmla="*/ 1081500 w 1137091"/>
              <a:gd name="connsiteY2" fmla="*/ 1030039 h 1501074"/>
              <a:gd name="connsiteX3" fmla="*/ 897668 w 1137091"/>
              <a:gd name="connsiteY3" fmla="*/ 1439615 h 1501074"/>
              <a:gd name="connsiteX4" fmla="*/ 429038 w 1137091"/>
              <a:gd name="connsiteY4" fmla="*/ 1446282 h 1501074"/>
              <a:gd name="connsiteX5" fmla="*/ 74708 w 1137091"/>
              <a:gd name="connsiteY5" fmla="*/ 1096715 h 1501074"/>
              <a:gd name="connsiteX6" fmla="*/ 7080 w 1137091"/>
              <a:gd name="connsiteY6" fmla="*/ 609035 h 1501074"/>
              <a:gd name="connsiteX7" fmla="*/ 194723 w 1137091"/>
              <a:gd name="connsiteY7" fmla="*/ 152787 h 1501074"/>
              <a:gd name="connsiteX8" fmla="*/ 679545 w 1137091"/>
              <a:gd name="connsiteY8" fmla="*/ 387 h 1501074"/>
              <a:gd name="connsiteX9" fmla="*/ 1112933 w 1137091"/>
              <a:gd name="connsiteY9" fmla="*/ 148024 h 1501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37091" h="1501074">
                <a:moveTo>
                  <a:pt x="1112933" y="148024"/>
                </a:moveTo>
                <a:cubicBezTo>
                  <a:pt x="1172940" y="267087"/>
                  <a:pt x="1105313" y="469969"/>
                  <a:pt x="1084358" y="625227"/>
                </a:cubicBezTo>
                <a:cubicBezTo>
                  <a:pt x="1064355" y="779532"/>
                  <a:pt x="1092930" y="886212"/>
                  <a:pt x="1081500" y="1030039"/>
                </a:cubicBezTo>
                <a:cubicBezTo>
                  <a:pt x="1069118" y="1173867"/>
                  <a:pt x="1018635" y="1353890"/>
                  <a:pt x="897668" y="1439615"/>
                </a:cubicBezTo>
                <a:cubicBezTo>
                  <a:pt x="776700" y="1525340"/>
                  <a:pt x="587153" y="1515815"/>
                  <a:pt x="429038" y="1446282"/>
                </a:cubicBezTo>
                <a:cubicBezTo>
                  <a:pt x="270923" y="1375797"/>
                  <a:pt x="146145" y="1246257"/>
                  <a:pt x="74708" y="1096715"/>
                </a:cubicBezTo>
                <a:cubicBezTo>
                  <a:pt x="4223" y="948125"/>
                  <a:pt x="-11017" y="780485"/>
                  <a:pt x="7080" y="609035"/>
                </a:cubicBezTo>
                <a:cubicBezTo>
                  <a:pt x="25178" y="436632"/>
                  <a:pt x="77565" y="261372"/>
                  <a:pt x="194723" y="152787"/>
                </a:cubicBezTo>
                <a:cubicBezTo>
                  <a:pt x="312833" y="44202"/>
                  <a:pt x="494760" y="3244"/>
                  <a:pt x="679545" y="387"/>
                </a:cubicBezTo>
                <a:cubicBezTo>
                  <a:pt x="865283" y="-3423"/>
                  <a:pt x="1052925" y="29915"/>
                  <a:pt x="1112933" y="148024"/>
                </a:cubicBezTo>
                <a:close/>
              </a:path>
            </a:pathLst>
          </a:custGeom>
          <a:solidFill>
            <a:srgbClr val="232F3E"/>
          </a:solidFill>
          <a:ln w="9525" cap="flat">
            <a:noFill/>
            <a:prstDash val="solid"/>
            <a:miter/>
          </a:ln>
        </p:spPr>
        <p:txBody>
          <a:bodyPr rtlCol="0" anchor="ctr"/>
          <a:lstStyle/>
          <a:p>
            <a:endParaRPr lang="en-IN"/>
          </a:p>
        </p:txBody>
      </p:sp>
      <p:sp>
        <p:nvSpPr>
          <p:cNvPr id="27" name="TextBox 26">
            <a:extLst>
              <a:ext uri="{FF2B5EF4-FFF2-40B4-BE49-F238E27FC236}">
                <a16:creationId xmlns:a16="http://schemas.microsoft.com/office/drawing/2014/main" id="{560A116B-CEAA-4F52-BBCF-7ACCB506DD15}"/>
              </a:ext>
            </a:extLst>
          </p:cNvPr>
          <p:cNvSpPr txBox="1"/>
          <p:nvPr/>
        </p:nvSpPr>
        <p:spPr>
          <a:xfrm>
            <a:off x="5230224" y="703026"/>
            <a:ext cx="739352" cy="385234"/>
          </a:xfrm>
          <a:prstGeom prst="rect">
            <a:avLst/>
          </a:prstGeom>
          <a:noFill/>
        </p:spPr>
        <p:txBody>
          <a:bodyPr wrap="square" rtlCol="0">
            <a:spAutoFit/>
          </a:bodyPr>
          <a:lstStyle/>
          <a:p>
            <a:pPr>
              <a:lnSpc>
                <a:spcPct val="130000"/>
              </a:lnSpc>
            </a:pPr>
            <a:r>
              <a:rPr lang="en-IN" sz="1600" dirty="0">
                <a:latin typeface="Fira Sans Medium" panose="020B0603050000020004" pitchFamily="34" charset="0"/>
              </a:rPr>
              <a:t>01</a:t>
            </a:r>
            <a:endParaRPr lang="en-IN" dirty="0">
              <a:latin typeface="Fira Sans Medium" panose="020B0603050000020004" pitchFamily="34" charset="0"/>
            </a:endParaRPr>
          </a:p>
        </p:txBody>
      </p:sp>
      <p:sp>
        <p:nvSpPr>
          <p:cNvPr id="28" name="TextBox 27">
            <a:extLst>
              <a:ext uri="{FF2B5EF4-FFF2-40B4-BE49-F238E27FC236}">
                <a16:creationId xmlns:a16="http://schemas.microsoft.com/office/drawing/2014/main" id="{357E1C47-5F9B-4DEC-AB74-280817249E80}"/>
              </a:ext>
            </a:extLst>
          </p:cNvPr>
          <p:cNvSpPr txBox="1"/>
          <p:nvPr/>
        </p:nvSpPr>
        <p:spPr>
          <a:xfrm>
            <a:off x="5233929" y="1511571"/>
            <a:ext cx="739352" cy="385234"/>
          </a:xfrm>
          <a:prstGeom prst="rect">
            <a:avLst/>
          </a:prstGeom>
          <a:noFill/>
        </p:spPr>
        <p:txBody>
          <a:bodyPr wrap="square" rtlCol="0">
            <a:spAutoFit/>
          </a:bodyPr>
          <a:lstStyle/>
          <a:p>
            <a:pPr>
              <a:lnSpc>
                <a:spcPct val="130000"/>
              </a:lnSpc>
            </a:pPr>
            <a:r>
              <a:rPr lang="en-IN" sz="1600" dirty="0">
                <a:latin typeface="Fira Sans Medium" panose="020B0603050000020004" pitchFamily="34" charset="0"/>
              </a:rPr>
              <a:t>02</a:t>
            </a:r>
            <a:endParaRPr lang="en-IN" dirty="0">
              <a:latin typeface="Fira Sans Medium" panose="020B0603050000020004" pitchFamily="34" charset="0"/>
            </a:endParaRPr>
          </a:p>
        </p:txBody>
      </p:sp>
      <p:sp>
        <p:nvSpPr>
          <p:cNvPr id="29" name="TextBox 28">
            <a:extLst>
              <a:ext uri="{FF2B5EF4-FFF2-40B4-BE49-F238E27FC236}">
                <a16:creationId xmlns:a16="http://schemas.microsoft.com/office/drawing/2014/main" id="{C69CE701-A04C-4B00-A98E-45155D83FCD6}"/>
              </a:ext>
            </a:extLst>
          </p:cNvPr>
          <p:cNvSpPr txBox="1"/>
          <p:nvPr/>
        </p:nvSpPr>
        <p:spPr>
          <a:xfrm>
            <a:off x="5230224" y="2344605"/>
            <a:ext cx="739352" cy="385234"/>
          </a:xfrm>
          <a:prstGeom prst="rect">
            <a:avLst/>
          </a:prstGeom>
          <a:noFill/>
        </p:spPr>
        <p:txBody>
          <a:bodyPr wrap="square" rtlCol="0">
            <a:spAutoFit/>
          </a:bodyPr>
          <a:lstStyle/>
          <a:p>
            <a:pPr>
              <a:lnSpc>
                <a:spcPct val="130000"/>
              </a:lnSpc>
            </a:pPr>
            <a:r>
              <a:rPr lang="en-IN" sz="1600" dirty="0">
                <a:latin typeface="Fira Sans Medium" panose="020B0603050000020004" pitchFamily="34" charset="0"/>
              </a:rPr>
              <a:t>03</a:t>
            </a:r>
            <a:endParaRPr lang="en-IN" dirty="0">
              <a:latin typeface="Fira Sans Medium" panose="020B0603050000020004" pitchFamily="34" charset="0"/>
            </a:endParaRPr>
          </a:p>
        </p:txBody>
      </p:sp>
      <p:sp>
        <p:nvSpPr>
          <p:cNvPr id="39" name="TextBox 38">
            <a:extLst>
              <a:ext uri="{FF2B5EF4-FFF2-40B4-BE49-F238E27FC236}">
                <a16:creationId xmlns:a16="http://schemas.microsoft.com/office/drawing/2014/main" id="{83DF6690-26EA-40D7-A858-D4888A649056}"/>
              </a:ext>
            </a:extLst>
          </p:cNvPr>
          <p:cNvSpPr txBox="1"/>
          <p:nvPr/>
        </p:nvSpPr>
        <p:spPr>
          <a:xfrm>
            <a:off x="5230224" y="3107281"/>
            <a:ext cx="739352" cy="385234"/>
          </a:xfrm>
          <a:prstGeom prst="rect">
            <a:avLst/>
          </a:prstGeom>
          <a:noFill/>
        </p:spPr>
        <p:txBody>
          <a:bodyPr wrap="square" rtlCol="0">
            <a:spAutoFit/>
          </a:bodyPr>
          <a:lstStyle/>
          <a:p>
            <a:pPr>
              <a:lnSpc>
                <a:spcPct val="130000"/>
              </a:lnSpc>
            </a:pPr>
            <a:r>
              <a:rPr lang="en-IN" sz="1600" dirty="0">
                <a:latin typeface="Fira Sans Medium" panose="020B0603050000020004" pitchFamily="34" charset="0"/>
              </a:rPr>
              <a:t>04</a:t>
            </a:r>
            <a:endParaRPr lang="en-IN" dirty="0">
              <a:latin typeface="Fira Sans Medium" panose="020B0603050000020004" pitchFamily="34" charset="0"/>
            </a:endParaRPr>
          </a:p>
        </p:txBody>
      </p:sp>
      <p:sp>
        <p:nvSpPr>
          <p:cNvPr id="43" name="TextBox 42">
            <a:extLst>
              <a:ext uri="{FF2B5EF4-FFF2-40B4-BE49-F238E27FC236}">
                <a16:creationId xmlns:a16="http://schemas.microsoft.com/office/drawing/2014/main" id="{C7991D8B-9248-4507-96C8-9632F6372F65}"/>
              </a:ext>
            </a:extLst>
          </p:cNvPr>
          <p:cNvSpPr txBox="1"/>
          <p:nvPr/>
        </p:nvSpPr>
        <p:spPr>
          <a:xfrm>
            <a:off x="5230224" y="3857482"/>
            <a:ext cx="739352" cy="385234"/>
          </a:xfrm>
          <a:prstGeom prst="rect">
            <a:avLst/>
          </a:prstGeom>
          <a:noFill/>
        </p:spPr>
        <p:txBody>
          <a:bodyPr wrap="square" rtlCol="0">
            <a:spAutoFit/>
          </a:bodyPr>
          <a:lstStyle/>
          <a:p>
            <a:pPr>
              <a:lnSpc>
                <a:spcPct val="130000"/>
              </a:lnSpc>
            </a:pPr>
            <a:r>
              <a:rPr lang="en-IN" sz="1600" dirty="0">
                <a:latin typeface="Fira Sans Medium" panose="020B0603050000020004" pitchFamily="34" charset="0"/>
              </a:rPr>
              <a:t>05</a:t>
            </a:r>
            <a:endParaRPr lang="en-IN" dirty="0">
              <a:latin typeface="Fira Sans Medium" panose="020B0603050000020004" pitchFamily="34" charset="0"/>
            </a:endParaRPr>
          </a:p>
        </p:txBody>
      </p:sp>
      <p:sp>
        <p:nvSpPr>
          <p:cNvPr id="45" name="TextBox 44">
            <a:extLst>
              <a:ext uri="{FF2B5EF4-FFF2-40B4-BE49-F238E27FC236}">
                <a16:creationId xmlns:a16="http://schemas.microsoft.com/office/drawing/2014/main" id="{5FB414D4-51D6-47FB-B7F0-69A452F41C2C}"/>
              </a:ext>
            </a:extLst>
          </p:cNvPr>
          <p:cNvSpPr txBox="1"/>
          <p:nvPr/>
        </p:nvSpPr>
        <p:spPr>
          <a:xfrm>
            <a:off x="5230224" y="4725615"/>
            <a:ext cx="739352" cy="385234"/>
          </a:xfrm>
          <a:prstGeom prst="rect">
            <a:avLst/>
          </a:prstGeom>
          <a:noFill/>
        </p:spPr>
        <p:txBody>
          <a:bodyPr wrap="square" rtlCol="0">
            <a:spAutoFit/>
          </a:bodyPr>
          <a:lstStyle/>
          <a:p>
            <a:pPr>
              <a:lnSpc>
                <a:spcPct val="130000"/>
              </a:lnSpc>
            </a:pPr>
            <a:r>
              <a:rPr lang="en-IN" sz="1600" dirty="0">
                <a:latin typeface="Fira Sans Medium" panose="020B0603050000020004" pitchFamily="34" charset="0"/>
              </a:rPr>
              <a:t>06</a:t>
            </a:r>
            <a:endParaRPr lang="en-IN" dirty="0">
              <a:latin typeface="Fira Sans Medium" panose="020B0603050000020004" pitchFamily="34" charset="0"/>
            </a:endParaRPr>
          </a:p>
        </p:txBody>
      </p:sp>
      <p:sp>
        <p:nvSpPr>
          <p:cNvPr id="46" name="TextBox 45">
            <a:extLst>
              <a:ext uri="{FF2B5EF4-FFF2-40B4-BE49-F238E27FC236}">
                <a16:creationId xmlns:a16="http://schemas.microsoft.com/office/drawing/2014/main" id="{79A6B042-B334-4F4D-9C90-18B8C401E2FF}"/>
              </a:ext>
            </a:extLst>
          </p:cNvPr>
          <p:cNvSpPr txBox="1"/>
          <p:nvPr/>
        </p:nvSpPr>
        <p:spPr>
          <a:xfrm>
            <a:off x="5230224" y="5668433"/>
            <a:ext cx="739352" cy="385234"/>
          </a:xfrm>
          <a:prstGeom prst="rect">
            <a:avLst/>
          </a:prstGeom>
          <a:noFill/>
        </p:spPr>
        <p:txBody>
          <a:bodyPr wrap="square" rtlCol="0">
            <a:spAutoFit/>
          </a:bodyPr>
          <a:lstStyle/>
          <a:p>
            <a:pPr>
              <a:lnSpc>
                <a:spcPct val="130000"/>
              </a:lnSpc>
            </a:pPr>
            <a:r>
              <a:rPr lang="en-IN" sz="1600" dirty="0">
                <a:latin typeface="Fira Sans Medium" panose="020B0603050000020004" pitchFamily="34" charset="0"/>
              </a:rPr>
              <a:t>07</a:t>
            </a:r>
            <a:endParaRPr lang="en-IN" dirty="0">
              <a:latin typeface="Fira Sans Medium" panose="020B0603050000020004" pitchFamily="34" charset="0"/>
            </a:endParaRPr>
          </a:p>
        </p:txBody>
      </p:sp>
    </p:spTree>
    <p:extLst>
      <p:ext uri="{BB962C8B-B14F-4D97-AF65-F5344CB8AC3E}">
        <p14:creationId xmlns:p14="http://schemas.microsoft.com/office/powerpoint/2010/main" val="13644338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descr="Graphical user interface, website&#10;&#10;Description automatically generated">
            <a:extLst>
              <a:ext uri="{FF2B5EF4-FFF2-40B4-BE49-F238E27FC236}">
                <a16:creationId xmlns:a16="http://schemas.microsoft.com/office/drawing/2014/main" id="{7D7E1A5B-A2F1-40EC-8F26-C60AFE4E9E33}"/>
              </a:ext>
            </a:extLst>
          </p:cNvPr>
          <p:cNvPicPr>
            <a:picLocks noGrp="1" noChangeAspect="1"/>
          </p:cNvPicPr>
          <p:nvPr>
            <p:ph type="pic" sz="quarter" idx="10"/>
          </p:nvPr>
        </p:nvPicPr>
        <p:blipFill>
          <a:blip r:embed="rId2">
            <a:extLst>
              <a:ext uri="{BEBA8EAE-BF5A-486C-A8C5-ECC9F3942E4B}">
                <a14:imgProps xmlns:a14="http://schemas.microsoft.com/office/drawing/2010/main">
                  <a14:imgLayer r:embed="rId3">
                    <a14:imgEffect>
                      <a14:colorTemperature colorTemp="7000"/>
                    </a14:imgEffect>
                  </a14:imgLayer>
                </a14:imgProps>
              </a:ext>
              <a:ext uri="{28A0092B-C50C-407E-A947-70E740481C1C}">
                <a14:useLocalDpi xmlns:a14="http://schemas.microsoft.com/office/drawing/2010/main" val="0"/>
              </a:ext>
            </a:extLst>
          </a:blip>
          <a:srcRect l="3365" r="3365"/>
          <a:stretch>
            <a:fillRect/>
          </a:stretch>
        </p:blipFill>
        <p:spPr>
          <a:xfrm>
            <a:off x="896079" y="1844544"/>
            <a:ext cx="4698716" cy="3022934"/>
          </a:xfrm>
        </p:spPr>
      </p:pic>
      <p:pic>
        <p:nvPicPr>
          <p:cNvPr id="5" name="Picture 4" descr="A picture containing text, monitor, computer, computer&#10;&#10;Description automatically generated">
            <a:extLst>
              <a:ext uri="{FF2B5EF4-FFF2-40B4-BE49-F238E27FC236}">
                <a16:creationId xmlns:a16="http://schemas.microsoft.com/office/drawing/2014/main" id="{3477BA88-24C3-4370-AA56-B4938AFF01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7449" y="1719863"/>
            <a:ext cx="5535976" cy="3522471"/>
          </a:xfrm>
          <a:prstGeom prst="rect">
            <a:avLst/>
          </a:prstGeom>
        </p:spPr>
      </p:pic>
      <p:sp>
        <p:nvSpPr>
          <p:cNvPr id="13" name="TextBox 12">
            <a:extLst>
              <a:ext uri="{FF2B5EF4-FFF2-40B4-BE49-F238E27FC236}">
                <a16:creationId xmlns:a16="http://schemas.microsoft.com/office/drawing/2014/main" id="{5670B9DC-91C1-484E-9617-115F58B33276}"/>
              </a:ext>
            </a:extLst>
          </p:cNvPr>
          <p:cNvSpPr txBox="1"/>
          <p:nvPr/>
        </p:nvSpPr>
        <p:spPr>
          <a:xfrm>
            <a:off x="7185140" y="1251834"/>
            <a:ext cx="3405099" cy="769441"/>
          </a:xfrm>
          <a:prstGeom prst="rect">
            <a:avLst/>
          </a:prstGeom>
          <a:noFill/>
        </p:spPr>
        <p:txBody>
          <a:bodyPr wrap="none" rtlCol="0">
            <a:spAutoFit/>
          </a:bodyPr>
          <a:lstStyle/>
          <a:p>
            <a:r>
              <a:rPr lang="en-IN" sz="4400" dirty="0">
                <a:latin typeface="Fira Sans Medium" panose="020B0603050000020004" pitchFamily="34" charset="0"/>
              </a:rPr>
              <a:t>Introduction</a:t>
            </a:r>
            <a:endParaRPr lang="en-IN" sz="3600" dirty="0">
              <a:latin typeface="Fira Sans Medium" panose="020B0603050000020004" pitchFamily="34" charset="0"/>
            </a:endParaRPr>
          </a:p>
        </p:txBody>
      </p:sp>
      <p:sp>
        <p:nvSpPr>
          <p:cNvPr id="14" name="TextBox 13">
            <a:extLst>
              <a:ext uri="{FF2B5EF4-FFF2-40B4-BE49-F238E27FC236}">
                <a16:creationId xmlns:a16="http://schemas.microsoft.com/office/drawing/2014/main" id="{8DF2C4B4-174C-454D-BF16-0A9827001BA6}"/>
              </a:ext>
            </a:extLst>
          </p:cNvPr>
          <p:cNvSpPr txBox="1"/>
          <p:nvPr/>
        </p:nvSpPr>
        <p:spPr>
          <a:xfrm>
            <a:off x="6845301" y="2365697"/>
            <a:ext cx="4659762" cy="2862322"/>
          </a:xfrm>
          <a:prstGeom prst="rect">
            <a:avLst/>
          </a:prstGeom>
          <a:noFill/>
        </p:spPr>
        <p:txBody>
          <a:bodyPr wrap="square" rtlCol="0">
            <a:spAutoFit/>
          </a:bodyPr>
          <a:lstStyle/>
          <a:p>
            <a:pPr>
              <a:buNone/>
            </a:pPr>
            <a:r>
              <a:rPr lang="en-US" sz="1200" dirty="0"/>
              <a:t>With the growing number of online product reviews, making sense of customer feedback has become a real challenge. Manually analyzing thousands of reviews is time-consuming and inefficient.</a:t>
            </a:r>
          </a:p>
          <a:p>
            <a:pPr>
              <a:buNone/>
            </a:pPr>
            <a:r>
              <a:rPr lang="en-US" sz="1200" dirty="0"/>
              <a:t>This project aims to solve that problem by building an intelligent review analysis system using </a:t>
            </a:r>
            <a:r>
              <a:rPr lang="en-US" sz="1200" b="1" dirty="0"/>
              <a:t>Natural Language Processing (NLP)</a:t>
            </a:r>
            <a:r>
              <a:rPr lang="en-US" sz="1200" dirty="0"/>
              <a:t> techniques.</a:t>
            </a:r>
          </a:p>
          <a:p>
            <a:pPr>
              <a:buNone/>
            </a:pPr>
            <a:endParaRPr lang="en-US" sz="1200" dirty="0"/>
          </a:p>
          <a:p>
            <a:pPr>
              <a:buNone/>
            </a:pPr>
            <a:r>
              <a:rPr lang="en-US" sz="1200" dirty="0"/>
              <a:t>We used a dataset of over 28,000 Amazon product reviews and focused on three main goals:</a:t>
            </a:r>
          </a:p>
          <a:p>
            <a:pPr>
              <a:buFont typeface="Arial" panose="020B0604020202020204" pitchFamily="34" charset="0"/>
              <a:buChar char="•"/>
            </a:pPr>
            <a:r>
              <a:rPr lang="en-US" sz="1200" b="1" dirty="0"/>
              <a:t>Classifying</a:t>
            </a:r>
            <a:r>
              <a:rPr lang="en-US" sz="1200" dirty="0"/>
              <a:t> reviews into positive, negative, or neutral sentiments.</a:t>
            </a:r>
          </a:p>
          <a:p>
            <a:pPr>
              <a:buFont typeface="Arial" panose="020B0604020202020204" pitchFamily="34" charset="0"/>
              <a:buChar char="•"/>
            </a:pPr>
            <a:r>
              <a:rPr lang="en-US" sz="1200" b="1" dirty="0"/>
              <a:t>Clustering</a:t>
            </a:r>
            <a:r>
              <a:rPr lang="en-US" sz="1200" dirty="0"/>
              <a:t> products into simplified meta-categories.</a:t>
            </a:r>
          </a:p>
          <a:p>
            <a:pPr>
              <a:buFont typeface="Arial" panose="020B0604020202020204" pitchFamily="34" charset="0"/>
              <a:buChar char="•"/>
            </a:pPr>
            <a:r>
              <a:rPr lang="en-US" sz="1200" b="1" dirty="0"/>
              <a:t>Summarizing</a:t>
            </a:r>
            <a:r>
              <a:rPr lang="en-US" sz="1200" dirty="0"/>
              <a:t> reviews into recommendation-style articles using generative AI.</a:t>
            </a:r>
          </a:p>
          <a:p>
            <a:endParaRPr lang="en-US" sz="1200" dirty="0"/>
          </a:p>
          <a:p>
            <a:r>
              <a:rPr lang="en-US" sz="1200" dirty="0"/>
              <a:t>The final result is an interactive web application that helps users gain quick, valuable insights from massive review data.</a:t>
            </a:r>
          </a:p>
        </p:txBody>
      </p:sp>
      <p:grpSp>
        <p:nvGrpSpPr>
          <p:cNvPr id="2" name="Group 1">
            <a:extLst>
              <a:ext uri="{FF2B5EF4-FFF2-40B4-BE49-F238E27FC236}">
                <a16:creationId xmlns:a16="http://schemas.microsoft.com/office/drawing/2014/main" id="{456B0755-F542-4AD2-806E-5C3E583925D6}"/>
              </a:ext>
            </a:extLst>
          </p:cNvPr>
          <p:cNvGrpSpPr/>
          <p:nvPr/>
        </p:nvGrpSpPr>
        <p:grpSpPr>
          <a:xfrm rot="4439350">
            <a:off x="10514817" y="-548826"/>
            <a:ext cx="2210578" cy="2419013"/>
            <a:chOff x="-447720" y="-856723"/>
            <a:chExt cx="2210578" cy="2419013"/>
          </a:xfrm>
        </p:grpSpPr>
        <p:sp>
          <p:nvSpPr>
            <p:cNvPr id="8" name="Graphic 4">
              <a:extLst>
                <a:ext uri="{FF2B5EF4-FFF2-40B4-BE49-F238E27FC236}">
                  <a16:creationId xmlns:a16="http://schemas.microsoft.com/office/drawing/2014/main" id="{6CDA27CB-64B5-4E07-8322-ADE408B3BE40}"/>
                </a:ext>
              </a:extLst>
            </p:cNvPr>
            <p:cNvSpPr/>
            <p:nvPr/>
          </p:nvSpPr>
          <p:spPr>
            <a:xfrm rot="2476041">
              <a:off x="-269976" y="-648288"/>
              <a:ext cx="1251936" cy="2210578"/>
            </a:xfrm>
            <a:custGeom>
              <a:avLst/>
              <a:gdLst>
                <a:gd name="connsiteX0" fmla="*/ 1112933 w 1137091"/>
                <a:gd name="connsiteY0" fmla="*/ 148024 h 1501074"/>
                <a:gd name="connsiteX1" fmla="*/ 1084358 w 1137091"/>
                <a:gd name="connsiteY1" fmla="*/ 625227 h 1501074"/>
                <a:gd name="connsiteX2" fmla="*/ 1081500 w 1137091"/>
                <a:gd name="connsiteY2" fmla="*/ 1030039 h 1501074"/>
                <a:gd name="connsiteX3" fmla="*/ 897668 w 1137091"/>
                <a:gd name="connsiteY3" fmla="*/ 1439615 h 1501074"/>
                <a:gd name="connsiteX4" fmla="*/ 429038 w 1137091"/>
                <a:gd name="connsiteY4" fmla="*/ 1446282 h 1501074"/>
                <a:gd name="connsiteX5" fmla="*/ 74708 w 1137091"/>
                <a:gd name="connsiteY5" fmla="*/ 1096715 h 1501074"/>
                <a:gd name="connsiteX6" fmla="*/ 7080 w 1137091"/>
                <a:gd name="connsiteY6" fmla="*/ 609035 h 1501074"/>
                <a:gd name="connsiteX7" fmla="*/ 194723 w 1137091"/>
                <a:gd name="connsiteY7" fmla="*/ 152787 h 1501074"/>
                <a:gd name="connsiteX8" fmla="*/ 679545 w 1137091"/>
                <a:gd name="connsiteY8" fmla="*/ 387 h 1501074"/>
                <a:gd name="connsiteX9" fmla="*/ 1112933 w 1137091"/>
                <a:gd name="connsiteY9" fmla="*/ 148024 h 1501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37091" h="1501074">
                  <a:moveTo>
                    <a:pt x="1112933" y="148024"/>
                  </a:moveTo>
                  <a:cubicBezTo>
                    <a:pt x="1172940" y="267087"/>
                    <a:pt x="1105313" y="469969"/>
                    <a:pt x="1084358" y="625227"/>
                  </a:cubicBezTo>
                  <a:cubicBezTo>
                    <a:pt x="1064355" y="779532"/>
                    <a:pt x="1092930" y="886212"/>
                    <a:pt x="1081500" y="1030039"/>
                  </a:cubicBezTo>
                  <a:cubicBezTo>
                    <a:pt x="1069118" y="1173867"/>
                    <a:pt x="1018635" y="1353890"/>
                    <a:pt x="897668" y="1439615"/>
                  </a:cubicBezTo>
                  <a:cubicBezTo>
                    <a:pt x="776700" y="1525340"/>
                    <a:pt x="587153" y="1515815"/>
                    <a:pt x="429038" y="1446282"/>
                  </a:cubicBezTo>
                  <a:cubicBezTo>
                    <a:pt x="270923" y="1375797"/>
                    <a:pt x="146145" y="1246257"/>
                    <a:pt x="74708" y="1096715"/>
                  </a:cubicBezTo>
                  <a:cubicBezTo>
                    <a:pt x="4223" y="948125"/>
                    <a:pt x="-11017" y="780485"/>
                    <a:pt x="7080" y="609035"/>
                  </a:cubicBezTo>
                  <a:cubicBezTo>
                    <a:pt x="25178" y="436632"/>
                    <a:pt x="77565" y="261372"/>
                    <a:pt x="194723" y="152787"/>
                  </a:cubicBezTo>
                  <a:cubicBezTo>
                    <a:pt x="312833" y="44202"/>
                    <a:pt x="494760" y="3244"/>
                    <a:pt x="679545" y="387"/>
                  </a:cubicBezTo>
                  <a:cubicBezTo>
                    <a:pt x="865283" y="-3423"/>
                    <a:pt x="1052925" y="29915"/>
                    <a:pt x="1112933" y="148024"/>
                  </a:cubicBezTo>
                  <a:close/>
                </a:path>
              </a:pathLst>
            </a:custGeom>
            <a:solidFill>
              <a:srgbClr val="131921"/>
            </a:solidFill>
            <a:ln w="9525" cap="flat">
              <a:noFill/>
              <a:prstDash val="solid"/>
              <a:miter/>
            </a:ln>
          </p:spPr>
          <p:txBody>
            <a:bodyPr rtlCol="0" anchor="ctr"/>
            <a:lstStyle/>
            <a:p>
              <a:endParaRPr lang="en-IN" dirty="0"/>
            </a:p>
          </p:txBody>
        </p:sp>
        <p:sp>
          <p:nvSpPr>
            <p:cNvPr id="9" name="Graphic 4">
              <a:extLst>
                <a:ext uri="{FF2B5EF4-FFF2-40B4-BE49-F238E27FC236}">
                  <a16:creationId xmlns:a16="http://schemas.microsoft.com/office/drawing/2014/main" id="{88E0D15D-E6FD-45C4-8A4E-6DAA2DFAFABD}"/>
                </a:ext>
              </a:extLst>
            </p:cNvPr>
            <p:cNvSpPr/>
            <p:nvPr/>
          </p:nvSpPr>
          <p:spPr>
            <a:xfrm rot="15002268" flipH="1">
              <a:off x="31601" y="-1336044"/>
              <a:ext cx="1251936" cy="2210578"/>
            </a:xfrm>
            <a:custGeom>
              <a:avLst/>
              <a:gdLst>
                <a:gd name="connsiteX0" fmla="*/ 1112933 w 1137091"/>
                <a:gd name="connsiteY0" fmla="*/ 148024 h 1501074"/>
                <a:gd name="connsiteX1" fmla="*/ 1084358 w 1137091"/>
                <a:gd name="connsiteY1" fmla="*/ 625227 h 1501074"/>
                <a:gd name="connsiteX2" fmla="*/ 1081500 w 1137091"/>
                <a:gd name="connsiteY2" fmla="*/ 1030039 h 1501074"/>
                <a:gd name="connsiteX3" fmla="*/ 897668 w 1137091"/>
                <a:gd name="connsiteY3" fmla="*/ 1439615 h 1501074"/>
                <a:gd name="connsiteX4" fmla="*/ 429038 w 1137091"/>
                <a:gd name="connsiteY4" fmla="*/ 1446282 h 1501074"/>
                <a:gd name="connsiteX5" fmla="*/ 74708 w 1137091"/>
                <a:gd name="connsiteY5" fmla="*/ 1096715 h 1501074"/>
                <a:gd name="connsiteX6" fmla="*/ 7080 w 1137091"/>
                <a:gd name="connsiteY6" fmla="*/ 609035 h 1501074"/>
                <a:gd name="connsiteX7" fmla="*/ 194723 w 1137091"/>
                <a:gd name="connsiteY7" fmla="*/ 152787 h 1501074"/>
                <a:gd name="connsiteX8" fmla="*/ 679545 w 1137091"/>
                <a:gd name="connsiteY8" fmla="*/ 387 h 1501074"/>
                <a:gd name="connsiteX9" fmla="*/ 1112933 w 1137091"/>
                <a:gd name="connsiteY9" fmla="*/ 148024 h 1501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37091" h="1501074">
                  <a:moveTo>
                    <a:pt x="1112933" y="148024"/>
                  </a:moveTo>
                  <a:cubicBezTo>
                    <a:pt x="1172940" y="267087"/>
                    <a:pt x="1105313" y="469969"/>
                    <a:pt x="1084358" y="625227"/>
                  </a:cubicBezTo>
                  <a:cubicBezTo>
                    <a:pt x="1064355" y="779532"/>
                    <a:pt x="1092930" y="886212"/>
                    <a:pt x="1081500" y="1030039"/>
                  </a:cubicBezTo>
                  <a:cubicBezTo>
                    <a:pt x="1069118" y="1173867"/>
                    <a:pt x="1018635" y="1353890"/>
                    <a:pt x="897668" y="1439615"/>
                  </a:cubicBezTo>
                  <a:cubicBezTo>
                    <a:pt x="776700" y="1525340"/>
                    <a:pt x="587153" y="1515815"/>
                    <a:pt x="429038" y="1446282"/>
                  </a:cubicBezTo>
                  <a:cubicBezTo>
                    <a:pt x="270923" y="1375797"/>
                    <a:pt x="146145" y="1246257"/>
                    <a:pt x="74708" y="1096715"/>
                  </a:cubicBezTo>
                  <a:cubicBezTo>
                    <a:pt x="4223" y="948125"/>
                    <a:pt x="-11017" y="780485"/>
                    <a:pt x="7080" y="609035"/>
                  </a:cubicBezTo>
                  <a:cubicBezTo>
                    <a:pt x="25178" y="436632"/>
                    <a:pt x="77565" y="261372"/>
                    <a:pt x="194723" y="152787"/>
                  </a:cubicBezTo>
                  <a:cubicBezTo>
                    <a:pt x="312833" y="44202"/>
                    <a:pt x="494760" y="3244"/>
                    <a:pt x="679545" y="387"/>
                  </a:cubicBezTo>
                  <a:cubicBezTo>
                    <a:pt x="865283" y="-3423"/>
                    <a:pt x="1052925" y="29915"/>
                    <a:pt x="1112933" y="148024"/>
                  </a:cubicBezTo>
                  <a:close/>
                </a:path>
              </a:pathLst>
            </a:custGeom>
            <a:solidFill>
              <a:srgbClr val="232F3E"/>
            </a:solidFill>
            <a:ln w="9525" cap="flat">
              <a:noFill/>
              <a:prstDash val="solid"/>
              <a:miter/>
            </a:ln>
          </p:spPr>
          <p:txBody>
            <a:bodyPr rtlCol="0" anchor="ctr"/>
            <a:lstStyle/>
            <a:p>
              <a:endParaRPr lang="en-IN" dirty="0"/>
            </a:p>
          </p:txBody>
        </p:sp>
      </p:grpSp>
      <p:sp>
        <p:nvSpPr>
          <p:cNvPr id="11" name="Freeform: Shape 10">
            <a:extLst>
              <a:ext uri="{FF2B5EF4-FFF2-40B4-BE49-F238E27FC236}">
                <a16:creationId xmlns:a16="http://schemas.microsoft.com/office/drawing/2014/main" id="{07FDEC7E-2582-4D41-9B1B-1B99DEF33F69}"/>
              </a:ext>
            </a:extLst>
          </p:cNvPr>
          <p:cNvSpPr/>
          <p:nvPr/>
        </p:nvSpPr>
        <p:spPr>
          <a:xfrm rot="6175423">
            <a:off x="10443342" y="4582071"/>
            <a:ext cx="2469060" cy="3599358"/>
          </a:xfrm>
          <a:custGeom>
            <a:avLst/>
            <a:gdLst>
              <a:gd name="connsiteX0" fmla="*/ 550 w 3991493"/>
              <a:gd name="connsiteY0" fmla="*/ 1642332 h 4835022"/>
              <a:gd name="connsiteX1" fmla="*/ 765521 w 3991493"/>
              <a:gd name="connsiteY1" fmla="*/ 580588 h 4835022"/>
              <a:gd name="connsiteX2" fmla="*/ 2083026 w 3991493"/>
              <a:gd name="connsiteY2" fmla="*/ 100048 h 4835022"/>
              <a:gd name="connsiteX3" fmla="*/ 2715245 w 3991493"/>
              <a:gd name="connsiteY3" fmla="*/ 1509749 h 4835022"/>
              <a:gd name="connsiteX4" fmla="*/ 2721227 w 3991493"/>
              <a:gd name="connsiteY4" fmla="*/ 1521384 h 4835022"/>
              <a:gd name="connsiteX5" fmla="*/ 3318393 w 3991493"/>
              <a:gd name="connsiteY5" fmla="*/ 1521384 h 4835022"/>
              <a:gd name="connsiteX6" fmla="*/ 3929986 w 3991493"/>
              <a:gd name="connsiteY6" fmla="*/ 1521384 h 4835022"/>
              <a:gd name="connsiteX7" fmla="*/ 3991493 w 3991493"/>
              <a:gd name="connsiteY7" fmla="*/ 1521384 h 4835022"/>
              <a:gd name="connsiteX8" fmla="*/ 3991493 w 3991493"/>
              <a:gd name="connsiteY8" fmla="*/ 4315384 h 4835022"/>
              <a:gd name="connsiteX9" fmla="*/ 3598980 w 3991493"/>
              <a:gd name="connsiteY9" fmla="*/ 4315384 h 4835022"/>
              <a:gd name="connsiteX10" fmla="*/ 3619976 w 3991493"/>
              <a:gd name="connsiteY10" fmla="*/ 4405771 h 4835022"/>
              <a:gd name="connsiteX11" fmla="*/ 3664689 w 3991493"/>
              <a:gd name="connsiteY11" fmla="*/ 4832151 h 4835022"/>
              <a:gd name="connsiteX12" fmla="*/ 2683777 w 3991493"/>
              <a:gd name="connsiteY12" fmla="*/ 3360765 h 4835022"/>
              <a:gd name="connsiteX13" fmla="*/ 1889482 w 3991493"/>
              <a:gd name="connsiteY13" fmla="*/ 2464207 h 4835022"/>
              <a:gd name="connsiteX14" fmla="*/ 81357 w 3991493"/>
              <a:gd name="connsiteY14" fmla="*/ 1843552 h 4835022"/>
              <a:gd name="connsiteX15" fmla="*/ 550 w 3991493"/>
              <a:gd name="connsiteY15" fmla="*/ 1642332 h 4835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991493" h="4835022">
                <a:moveTo>
                  <a:pt x="550" y="1642332"/>
                </a:moveTo>
                <a:cubicBezTo>
                  <a:pt x="-16569" y="1328474"/>
                  <a:pt x="368015" y="925398"/>
                  <a:pt x="765521" y="580588"/>
                </a:cubicBezTo>
                <a:cubicBezTo>
                  <a:pt x="1255823" y="160176"/>
                  <a:pt x="1760838" y="-174916"/>
                  <a:pt x="2083026" y="100048"/>
                </a:cubicBezTo>
                <a:cubicBezTo>
                  <a:pt x="2362548" y="345008"/>
                  <a:pt x="2499183" y="1057820"/>
                  <a:pt x="2715245" y="1509749"/>
                </a:cubicBezTo>
                <a:lnTo>
                  <a:pt x="2721227" y="1521384"/>
                </a:lnTo>
                <a:lnTo>
                  <a:pt x="3318393" y="1521384"/>
                </a:lnTo>
                <a:lnTo>
                  <a:pt x="3929986" y="1521384"/>
                </a:lnTo>
                <a:lnTo>
                  <a:pt x="3991493" y="1521384"/>
                </a:lnTo>
                <a:lnTo>
                  <a:pt x="3991493" y="4315384"/>
                </a:lnTo>
                <a:lnTo>
                  <a:pt x="3598980" y="4315384"/>
                </a:lnTo>
                <a:lnTo>
                  <a:pt x="3619976" y="4405771"/>
                </a:lnTo>
                <a:cubicBezTo>
                  <a:pt x="3673465" y="4641116"/>
                  <a:pt x="3702837" y="4809178"/>
                  <a:pt x="3664689" y="4832151"/>
                </a:cubicBezTo>
                <a:cubicBezTo>
                  <a:pt x="3559158" y="4894433"/>
                  <a:pt x="2974535" y="3928939"/>
                  <a:pt x="2683777" y="3360765"/>
                </a:cubicBezTo>
                <a:cubicBezTo>
                  <a:pt x="2393020" y="2792591"/>
                  <a:pt x="2399927" y="2620719"/>
                  <a:pt x="1889482" y="2464207"/>
                </a:cubicBezTo>
                <a:cubicBezTo>
                  <a:pt x="1380096" y="2311659"/>
                  <a:pt x="356095" y="2169487"/>
                  <a:pt x="81357" y="1843552"/>
                </a:cubicBezTo>
                <a:cubicBezTo>
                  <a:pt x="29844" y="1782438"/>
                  <a:pt x="4501" y="1714761"/>
                  <a:pt x="550" y="1642332"/>
                </a:cubicBezTo>
                <a:close/>
              </a:path>
            </a:pathLst>
          </a:custGeom>
          <a:solidFill>
            <a:srgbClr val="13192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2" name="Graphic 11">
            <a:extLst>
              <a:ext uri="{FF2B5EF4-FFF2-40B4-BE49-F238E27FC236}">
                <a16:creationId xmlns:a16="http://schemas.microsoft.com/office/drawing/2014/main" id="{8E92D25A-6A8A-4A17-9F85-0FD4B3B90E81}"/>
              </a:ext>
            </a:extLst>
          </p:cNvPr>
          <p:cNvSpPr/>
          <p:nvPr/>
        </p:nvSpPr>
        <p:spPr>
          <a:xfrm>
            <a:off x="10250002" y="139291"/>
            <a:ext cx="775163" cy="720875"/>
          </a:xfrm>
          <a:custGeom>
            <a:avLst/>
            <a:gdLst>
              <a:gd name="connsiteX0" fmla="*/ 1051454 w 1444799"/>
              <a:gd name="connsiteY0" fmla="*/ 206792 h 1343613"/>
              <a:gd name="connsiteX1" fmla="*/ 1253384 w 1444799"/>
              <a:gd name="connsiteY1" fmla="*/ 532548 h 1343613"/>
              <a:gd name="connsiteX2" fmla="*/ 1443884 w 1444799"/>
              <a:gd name="connsiteY2" fmla="*/ 904023 h 1343613"/>
              <a:gd name="connsiteX3" fmla="*/ 1145752 w 1444799"/>
              <a:gd name="connsiteY3" fmla="*/ 1165960 h 1343613"/>
              <a:gd name="connsiteX4" fmla="*/ 728556 w 1444799"/>
              <a:gd name="connsiteY4" fmla="*/ 1305025 h 1343613"/>
              <a:gd name="connsiteX5" fmla="*/ 267546 w 1444799"/>
              <a:gd name="connsiteY5" fmla="*/ 1305025 h 1343613"/>
              <a:gd name="connsiteX6" fmla="*/ 21801 w 1444799"/>
              <a:gd name="connsiteY6" fmla="*/ 912595 h 1343613"/>
              <a:gd name="connsiteX7" fmla="*/ 64664 w 1444799"/>
              <a:gd name="connsiteY7" fmla="*/ 463968 h 1343613"/>
              <a:gd name="connsiteX8" fmla="*/ 405659 w 1444799"/>
              <a:gd name="connsiteY8" fmla="*/ 187742 h 1343613"/>
              <a:gd name="connsiteX9" fmla="*/ 753321 w 1444799"/>
              <a:gd name="connsiteY9" fmla="*/ 100 h 1343613"/>
              <a:gd name="connsiteX10" fmla="*/ 1051454 w 1444799"/>
              <a:gd name="connsiteY10" fmla="*/ 206792 h 1343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44799" h="1343613">
                <a:moveTo>
                  <a:pt x="1051454" y="206792"/>
                </a:moveTo>
                <a:cubicBezTo>
                  <a:pt x="1128607" y="309663"/>
                  <a:pt x="1171469" y="411580"/>
                  <a:pt x="1253384" y="532548"/>
                </a:cubicBezTo>
                <a:cubicBezTo>
                  <a:pt x="1336252" y="652563"/>
                  <a:pt x="1457219" y="791628"/>
                  <a:pt x="1443884" y="904023"/>
                </a:cubicBezTo>
                <a:cubicBezTo>
                  <a:pt x="1430549" y="1016418"/>
                  <a:pt x="1282912" y="1102143"/>
                  <a:pt x="1145752" y="1165960"/>
                </a:cubicBezTo>
                <a:cubicBezTo>
                  <a:pt x="1008591" y="1228825"/>
                  <a:pt x="880956" y="1269783"/>
                  <a:pt x="728556" y="1305025"/>
                </a:cubicBezTo>
                <a:cubicBezTo>
                  <a:pt x="575204" y="1340268"/>
                  <a:pt x="397086" y="1370748"/>
                  <a:pt x="267546" y="1305025"/>
                </a:cubicBezTo>
                <a:cubicBezTo>
                  <a:pt x="138959" y="1239303"/>
                  <a:pt x="58949" y="1076425"/>
                  <a:pt x="21801" y="912595"/>
                </a:cubicBezTo>
                <a:cubicBezTo>
                  <a:pt x="-14394" y="748765"/>
                  <a:pt x="-8679" y="583030"/>
                  <a:pt x="64664" y="463968"/>
                </a:cubicBezTo>
                <a:cubicBezTo>
                  <a:pt x="138006" y="345858"/>
                  <a:pt x="278976" y="274420"/>
                  <a:pt x="405659" y="187742"/>
                </a:cubicBezTo>
                <a:cubicBezTo>
                  <a:pt x="531389" y="101065"/>
                  <a:pt x="642831" y="100"/>
                  <a:pt x="753321" y="100"/>
                </a:cubicBezTo>
                <a:cubicBezTo>
                  <a:pt x="864764" y="1052"/>
                  <a:pt x="974301" y="104875"/>
                  <a:pt x="1051454" y="206792"/>
                </a:cubicBezTo>
                <a:close/>
              </a:path>
            </a:pathLst>
          </a:custGeom>
          <a:solidFill>
            <a:srgbClr val="FF9900"/>
          </a:solidFill>
          <a:ln w="9525" cap="flat">
            <a:noFill/>
            <a:prstDash val="solid"/>
            <a:miter/>
          </a:ln>
        </p:spPr>
        <p:txBody>
          <a:bodyPr rtlCol="0" anchor="ctr"/>
          <a:lstStyle/>
          <a:p>
            <a:endParaRPr lang="en-IN"/>
          </a:p>
        </p:txBody>
      </p:sp>
    </p:spTree>
    <p:extLst>
      <p:ext uri="{BB962C8B-B14F-4D97-AF65-F5344CB8AC3E}">
        <p14:creationId xmlns:p14="http://schemas.microsoft.com/office/powerpoint/2010/main" val="11721591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41F91-CB61-91E0-F078-A6AFE02B37AE}"/>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E5168F5F-98BB-7B28-69A3-F7654E58BC13}"/>
              </a:ext>
            </a:extLst>
          </p:cNvPr>
          <p:cNvSpPr txBox="1"/>
          <p:nvPr/>
        </p:nvSpPr>
        <p:spPr>
          <a:xfrm>
            <a:off x="807919" y="2034480"/>
            <a:ext cx="6161298" cy="4401205"/>
          </a:xfrm>
          <a:prstGeom prst="rect">
            <a:avLst/>
          </a:prstGeom>
          <a:noFill/>
        </p:spPr>
        <p:txBody>
          <a:bodyPr wrap="square" rtlCol="0">
            <a:spAutoFit/>
          </a:bodyPr>
          <a:lstStyle/>
          <a:p>
            <a:pPr>
              <a:buNone/>
            </a:pPr>
            <a:r>
              <a:rPr lang="en-US" sz="1400" dirty="0"/>
              <a:t>This dataset contains over </a:t>
            </a:r>
            <a:r>
              <a:rPr lang="en-US" sz="1400" b="1" dirty="0"/>
              <a:t>28,000 Amazon product reviews</a:t>
            </a:r>
            <a:r>
              <a:rPr lang="en-US" sz="1400" dirty="0"/>
              <a:t> from </a:t>
            </a:r>
            <a:r>
              <a:rPr lang="en-US" sz="1400" b="1" dirty="0" err="1"/>
              <a:t>Datafiniti's</a:t>
            </a:r>
            <a:r>
              <a:rPr lang="en-US" sz="1400" b="1" dirty="0"/>
              <a:t> Product Database</a:t>
            </a:r>
            <a:r>
              <a:rPr lang="en-US" sz="1400" dirty="0"/>
              <a:t>, collected between </a:t>
            </a:r>
            <a:r>
              <a:rPr lang="en-US" sz="1400" b="1" dirty="0"/>
              <a:t>February and April 2019</a:t>
            </a:r>
            <a:r>
              <a:rPr lang="en-US" sz="1400" dirty="0"/>
              <a:t>. It includes reviews for products such as the </a:t>
            </a:r>
            <a:r>
              <a:rPr lang="en-US" sz="1400" b="1" dirty="0"/>
              <a:t>Kindle</a:t>
            </a:r>
            <a:r>
              <a:rPr lang="en-US" sz="1400" dirty="0"/>
              <a:t> and </a:t>
            </a:r>
            <a:r>
              <a:rPr lang="en-US" sz="1400" b="1" dirty="0"/>
              <a:t>Fire TV Stick</a:t>
            </a:r>
            <a:r>
              <a:rPr lang="en-US" sz="1400" dirty="0"/>
              <a:t>.</a:t>
            </a:r>
          </a:p>
          <a:p>
            <a:pPr>
              <a:buNone/>
            </a:pPr>
            <a:endParaRPr lang="en-US" sz="1400" dirty="0"/>
          </a:p>
          <a:p>
            <a:pPr>
              <a:buNone/>
            </a:pPr>
            <a:r>
              <a:rPr lang="en-US" sz="1400" b="1" dirty="0"/>
              <a:t>Key Characteristics:</a:t>
            </a:r>
          </a:p>
          <a:p>
            <a:pPr>
              <a:buFont typeface="Arial" panose="020B0604020202020204" pitchFamily="34" charset="0"/>
              <a:buChar char="•"/>
            </a:pPr>
            <a:r>
              <a:rPr lang="en-US" sz="1400" dirty="0"/>
              <a:t>The data is </a:t>
            </a:r>
            <a:r>
              <a:rPr lang="en-US" sz="1400" b="1" dirty="0"/>
              <a:t>flattened</a:t>
            </a:r>
            <a:r>
              <a:rPr lang="en-US" sz="1400" dirty="0"/>
              <a:t> to simplify analysis.</a:t>
            </a:r>
          </a:p>
          <a:p>
            <a:pPr>
              <a:buFont typeface="Arial" panose="020B0604020202020204" pitchFamily="34" charset="0"/>
              <a:buChar char="•"/>
            </a:pPr>
            <a:r>
              <a:rPr lang="en-US" sz="1400" b="1" dirty="0"/>
              <a:t>Imbalanced ratings</a:t>
            </a:r>
            <a:r>
              <a:rPr lang="en-US" sz="1400" dirty="0"/>
              <a:t>, with the majority of reviews being </a:t>
            </a:r>
            <a:r>
              <a:rPr lang="en-US" sz="1400" b="1" dirty="0"/>
              <a:t>4 or 5 stars</a:t>
            </a:r>
            <a:r>
              <a:rPr lang="en-US" sz="1400" dirty="0"/>
              <a:t>.</a:t>
            </a:r>
          </a:p>
          <a:p>
            <a:endParaRPr lang="en-US" sz="1400" dirty="0"/>
          </a:p>
          <a:p>
            <a:pPr>
              <a:buNone/>
            </a:pPr>
            <a:r>
              <a:rPr lang="en-US" sz="1400" b="1" dirty="0"/>
              <a:t>Sentiment Mapping:</a:t>
            </a:r>
          </a:p>
          <a:p>
            <a:pPr>
              <a:buFont typeface="Arial" panose="020B0604020202020204" pitchFamily="34" charset="0"/>
              <a:buChar char="•"/>
            </a:pPr>
            <a:r>
              <a:rPr lang="en-US" sz="1400" b="1" dirty="0"/>
              <a:t>Negative -&gt;</a:t>
            </a:r>
            <a:r>
              <a:rPr lang="en-US" sz="1400" dirty="0"/>
              <a:t> 1–2 stars</a:t>
            </a:r>
          </a:p>
          <a:p>
            <a:pPr>
              <a:buFont typeface="Arial" panose="020B0604020202020204" pitchFamily="34" charset="0"/>
              <a:buChar char="•"/>
            </a:pPr>
            <a:r>
              <a:rPr lang="en-US" sz="1400" b="1" dirty="0"/>
              <a:t>Neutral -&gt;</a:t>
            </a:r>
            <a:r>
              <a:rPr lang="en-US" sz="1400" dirty="0"/>
              <a:t> 3 stars</a:t>
            </a:r>
          </a:p>
          <a:p>
            <a:pPr>
              <a:buFont typeface="Arial" panose="020B0604020202020204" pitchFamily="34" charset="0"/>
              <a:buChar char="•"/>
            </a:pPr>
            <a:r>
              <a:rPr lang="en-US" sz="1400" b="1" dirty="0"/>
              <a:t>Positive -&gt;</a:t>
            </a:r>
            <a:r>
              <a:rPr lang="en-US" sz="1400" dirty="0"/>
              <a:t> 4–5 stars</a:t>
            </a:r>
          </a:p>
          <a:p>
            <a:endParaRPr lang="en-US" sz="1400" dirty="0"/>
          </a:p>
          <a:p>
            <a:r>
              <a:rPr lang="en-US" sz="1400" b="1" dirty="0"/>
              <a:t>Key Features Used:</a:t>
            </a:r>
          </a:p>
          <a:p>
            <a:r>
              <a:rPr lang="en-US" sz="1400" b="1" dirty="0" err="1"/>
              <a:t>Reviews.text</a:t>
            </a:r>
            <a:r>
              <a:rPr lang="en-US" sz="1400" b="1" dirty="0"/>
              <a:t>: </a:t>
            </a:r>
            <a:r>
              <a:rPr lang="en-US" sz="1400" dirty="0"/>
              <a:t>The main review content (input for NLP models)</a:t>
            </a:r>
          </a:p>
          <a:p>
            <a:r>
              <a:rPr lang="en-US" sz="1400" b="1" dirty="0" err="1"/>
              <a:t>Reviews.title</a:t>
            </a:r>
            <a:r>
              <a:rPr lang="en-US" sz="1400" b="1" dirty="0"/>
              <a:t>: </a:t>
            </a:r>
            <a:r>
              <a:rPr lang="en-US" sz="1400" dirty="0"/>
              <a:t>Combined with text for deeper analysis</a:t>
            </a:r>
            <a:endParaRPr lang="en-US" sz="1400" b="1" dirty="0"/>
          </a:p>
          <a:p>
            <a:r>
              <a:rPr lang="en-US" sz="1400" b="1" dirty="0" err="1"/>
              <a:t>Reviews.rating</a:t>
            </a:r>
            <a:r>
              <a:rPr lang="en-US" sz="1400" b="1" dirty="0"/>
              <a:t>: </a:t>
            </a:r>
            <a:r>
              <a:rPr lang="en-US" sz="1400" dirty="0"/>
              <a:t>Determines sentiment class</a:t>
            </a:r>
          </a:p>
          <a:p>
            <a:r>
              <a:rPr lang="en-US" sz="1400" b="1" dirty="0"/>
              <a:t>Categories: </a:t>
            </a:r>
            <a:r>
              <a:rPr lang="en-US" sz="1400" dirty="0"/>
              <a:t>Used to cluster products</a:t>
            </a:r>
          </a:p>
          <a:p>
            <a:r>
              <a:rPr lang="en-US" sz="1400" b="1" dirty="0"/>
              <a:t>Name: </a:t>
            </a:r>
            <a:r>
              <a:rPr lang="en-US" sz="1400" dirty="0"/>
              <a:t>Identifies the product</a:t>
            </a:r>
          </a:p>
          <a:p>
            <a:endParaRPr lang="en-US" sz="1400" b="1" dirty="0"/>
          </a:p>
        </p:txBody>
      </p:sp>
      <p:sp>
        <p:nvSpPr>
          <p:cNvPr id="19" name="TextBox 18">
            <a:extLst>
              <a:ext uri="{FF2B5EF4-FFF2-40B4-BE49-F238E27FC236}">
                <a16:creationId xmlns:a16="http://schemas.microsoft.com/office/drawing/2014/main" id="{28000998-7984-AE01-6BEE-6B386A8CD910}"/>
              </a:ext>
            </a:extLst>
          </p:cNvPr>
          <p:cNvSpPr txBox="1"/>
          <p:nvPr/>
        </p:nvSpPr>
        <p:spPr>
          <a:xfrm>
            <a:off x="807919" y="1207687"/>
            <a:ext cx="4171568" cy="1087734"/>
          </a:xfrm>
          <a:prstGeom prst="rect">
            <a:avLst/>
          </a:prstGeom>
          <a:noFill/>
        </p:spPr>
        <p:txBody>
          <a:bodyPr wrap="square" rtlCol="0">
            <a:spAutoFit/>
          </a:bodyPr>
          <a:lstStyle/>
          <a:p>
            <a:pPr algn="ctr">
              <a:lnSpc>
                <a:spcPct val="130000"/>
              </a:lnSpc>
            </a:pPr>
            <a:r>
              <a:rPr lang="en-US" sz="2400" b="1" i="0" dirty="0">
                <a:solidFill>
                  <a:srgbClr val="000000"/>
                </a:solidFill>
                <a:effectLst/>
                <a:latin typeface="Inter" panose="020B0604020202020204" charset="0"/>
              </a:rPr>
              <a:t>Exploratory Data Analysis</a:t>
            </a:r>
            <a:r>
              <a:rPr lang="en-US" sz="2400" b="0" i="0" dirty="0">
                <a:solidFill>
                  <a:srgbClr val="000000"/>
                </a:solidFill>
                <a:effectLst/>
                <a:latin typeface="Inter" panose="020B0604020202020204" charset="0"/>
              </a:rPr>
              <a:t> </a:t>
            </a:r>
            <a:endParaRPr lang="en-IN" sz="2400" dirty="0">
              <a:latin typeface="Fira Sans Medium" panose="020B0603050000020004" pitchFamily="34" charset="0"/>
            </a:endParaRPr>
          </a:p>
          <a:p>
            <a:pPr algn="ctr">
              <a:lnSpc>
                <a:spcPct val="130000"/>
              </a:lnSpc>
            </a:pPr>
            <a:endParaRPr lang="en-IN" sz="2800" dirty="0">
              <a:latin typeface="Fira Sans Medium" panose="020B0603050000020004" pitchFamily="34" charset="0"/>
            </a:endParaRPr>
          </a:p>
        </p:txBody>
      </p:sp>
      <p:pic>
        <p:nvPicPr>
          <p:cNvPr id="2" name="Picture 1">
            <a:extLst>
              <a:ext uri="{FF2B5EF4-FFF2-40B4-BE49-F238E27FC236}">
                <a16:creationId xmlns:a16="http://schemas.microsoft.com/office/drawing/2014/main" id="{5557D221-916E-0B3E-1506-12DF6B500FE9}"/>
              </a:ext>
            </a:extLst>
          </p:cNvPr>
          <p:cNvPicPr>
            <a:picLocks noChangeAspect="1"/>
          </p:cNvPicPr>
          <p:nvPr/>
        </p:nvPicPr>
        <p:blipFill>
          <a:blip r:embed="rId2"/>
          <a:srcRect l="45486" t="3111" r="-1" b="-3111"/>
          <a:stretch/>
        </p:blipFill>
        <p:spPr>
          <a:xfrm>
            <a:off x="7464891" y="-47065"/>
            <a:ext cx="6712373" cy="7485095"/>
          </a:xfrm>
          <a:prstGeom prst="rect">
            <a:avLst/>
          </a:prstGeom>
          <a:ln>
            <a:solidFill>
              <a:schemeClr val="bg1"/>
            </a:solidFill>
          </a:ln>
        </p:spPr>
      </p:pic>
    </p:spTree>
    <p:extLst>
      <p:ext uri="{BB962C8B-B14F-4D97-AF65-F5344CB8AC3E}">
        <p14:creationId xmlns:p14="http://schemas.microsoft.com/office/powerpoint/2010/main" val="15956729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extBox 43">
            <a:extLst>
              <a:ext uri="{FF2B5EF4-FFF2-40B4-BE49-F238E27FC236}">
                <a16:creationId xmlns:a16="http://schemas.microsoft.com/office/drawing/2014/main" id="{EEE865F0-6E4C-4D6E-A656-0D09E745146B}"/>
              </a:ext>
            </a:extLst>
          </p:cNvPr>
          <p:cNvSpPr txBox="1"/>
          <p:nvPr/>
        </p:nvSpPr>
        <p:spPr>
          <a:xfrm>
            <a:off x="619037" y="287512"/>
            <a:ext cx="6056915" cy="769441"/>
          </a:xfrm>
          <a:prstGeom prst="rect">
            <a:avLst/>
          </a:prstGeom>
          <a:noFill/>
        </p:spPr>
        <p:txBody>
          <a:bodyPr wrap="none" rtlCol="0">
            <a:spAutoFit/>
          </a:bodyPr>
          <a:lstStyle/>
          <a:p>
            <a:r>
              <a:rPr lang="en-US" sz="4400" b="1" dirty="0"/>
              <a:t>Handling Data Imbalance</a:t>
            </a:r>
          </a:p>
        </p:txBody>
      </p:sp>
      <p:sp>
        <p:nvSpPr>
          <p:cNvPr id="28" name="Rectangle: Rounded Corners 27">
            <a:extLst>
              <a:ext uri="{FF2B5EF4-FFF2-40B4-BE49-F238E27FC236}">
                <a16:creationId xmlns:a16="http://schemas.microsoft.com/office/drawing/2014/main" id="{216430F9-5092-4904-A933-48CB0D1F1F82}"/>
              </a:ext>
            </a:extLst>
          </p:cNvPr>
          <p:cNvSpPr/>
          <p:nvPr/>
        </p:nvSpPr>
        <p:spPr>
          <a:xfrm>
            <a:off x="1642584" y="1417837"/>
            <a:ext cx="3543480" cy="1707009"/>
          </a:xfrm>
          <a:prstGeom prst="roundRect">
            <a:avLst/>
          </a:prstGeom>
          <a:solidFill>
            <a:srgbClr val="1319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Freeform: Shape 30">
            <a:extLst>
              <a:ext uri="{FF2B5EF4-FFF2-40B4-BE49-F238E27FC236}">
                <a16:creationId xmlns:a16="http://schemas.microsoft.com/office/drawing/2014/main" id="{0E66D3E7-EB07-4733-B940-9A240A40D3A9}"/>
              </a:ext>
            </a:extLst>
          </p:cNvPr>
          <p:cNvSpPr/>
          <p:nvPr/>
        </p:nvSpPr>
        <p:spPr>
          <a:xfrm>
            <a:off x="8586440" y="2963440"/>
            <a:ext cx="390201" cy="278450"/>
          </a:xfrm>
          <a:custGeom>
            <a:avLst/>
            <a:gdLst>
              <a:gd name="connsiteX0" fmla="*/ 378083 w 589280"/>
              <a:gd name="connsiteY0" fmla="*/ 364135 h 420514"/>
              <a:gd name="connsiteX1" fmla="*/ 377956 w 589280"/>
              <a:gd name="connsiteY1" fmla="*/ 364765 h 420514"/>
              <a:gd name="connsiteX2" fmla="*/ 376253 w 589280"/>
              <a:gd name="connsiteY2" fmla="*/ 367291 h 420514"/>
              <a:gd name="connsiteX3" fmla="*/ 0 w 589280"/>
              <a:gd name="connsiteY3" fmla="*/ 0 h 420514"/>
              <a:gd name="connsiteX4" fmla="*/ 589280 w 589280"/>
              <a:gd name="connsiteY4" fmla="*/ 0 h 420514"/>
              <a:gd name="connsiteX5" fmla="*/ 378082 w 589280"/>
              <a:gd name="connsiteY5" fmla="*/ 364134 h 420514"/>
              <a:gd name="connsiteX6" fmla="*/ 376252 w 589280"/>
              <a:gd name="connsiteY6" fmla="*/ 367290 h 420514"/>
              <a:gd name="connsiteX7" fmla="*/ 358392 w 589280"/>
              <a:gd name="connsiteY7" fmla="*/ 393778 h 420514"/>
              <a:gd name="connsiteX8" fmla="*/ 293847 w 589280"/>
              <a:gd name="connsiteY8" fmla="*/ 420514 h 420514"/>
              <a:gd name="connsiteX9" fmla="*/ 229302 w 589280"/>
              <a:gd name="connsiteY9" fmla="*/ 393778 h 420514"/>
              <a:gd name="connsiteX10" fmla="*/ 222787 w 589280"/>
              <a:gd name="connsiteY10" fmla="*/ 384116 h 420514"/>
              <a:gd name="connsiteX11" fmla="*/ 208765 w 589280"/>
              <a:gd name="connsiteY11" fmla="*/ 359940 h 420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89280" h="420514">
                <a:moveTo>
                  <a:pt x="378083" y="364135"/>
                </a:moveTo>
                <a:lnTo>
                  <a:pt x="377956" y="364765"/>
                </a:lnTo>
                <a:lnTo>
                  <a:pt x="376253" y="367291"/>
                </a:lnTo>
                <a:close/>
                <a:moveTo>
                  <a:pt x="0" y="0"/>
                </a:moveTo>
                <a:lnTo>
                  <a:pt x="589280" y="0"/>
                </a:lnTo>
                <a:lnTo>
                  <a:pt x="378082" y="364134"/>
                </a:lnTo>
                <a:lnTo>
                  <a:pt x="376252" y="367290"/>
                </a:lnTo>
                <a:lnTo>
                  <a:pt x="358392" y="393778"/>
                </a:lnTo>
                <a:cubicBezTo>
                  <a:pt x="341874" y="410297"/>
                  <a:pt x="319054" y="420514"/>
                  <a:pt x="293847" y="420514"/>
                </a:cubicBezTo>
                <a:cubicBezTo>
                  <a:pt x="268641" y="420514"/>
                  <a:pt x="245820" y="410297"/>
                  <a:pt x="229302" y="393778"/>
                </a:cubicBezTo>
                <a:lnTo>
                  <a:pt x="222787" y="384116"/>
                </a:lnTo>
                <a:lnTo>
                  <a:pt x="208765" y="359940"/>
                </a:lnTo>
                <a:close/>
              </a:path>
            </a:pathLst>
          </a:custGeom>
          <a:solidFill>
            <a:srgbClr val="13192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cxnSp>
        <p:nvCxnSpPr>
          <p:cNvPr id="5" name="Straight Connector 4">
            <a:extLst>
              <a:ext uri="{FF2B5EF4-FFF2-40B4-BE49-F238E27FC236}">
                <a16:creationId xmlns:a16="http://schemas.microsoft.com/office/drawing/2014/main" id="{A5AA57EA-6004-4AFD-AE43-376E12691068}"/>
              </a:ext>
            </a:extLst>
          </p:cNvPr>
          <p:cNvCxnSpPr>
            <a:cxnSpLocks/>
          </p:cNvCxnSpPr>
          <p:nvPr/>
        </p:nvCxnSpPr>
        <p:spPr>
          <a:xfrm>
            <a:off x="1567341" y="3452577"/>
            <a:ext cx="8864912" cy="0"/>
          </a:xfrm>
          <a:prstGeom prst="line">
            <a:avLst/>
          </a:prstGeom>
          <a:ln w="38100" cap="rnd">
            <a:solidFill>
              <a:schemeClr val="tx1">
                <a:lumMod val="65000"/>
                <a:lumOff val="35000"/>
                <a:alpha val="80000"/>
              </a:schemeClr>
            </a:solidFill>
            <a:prstDash val="sysDot"/>
          </a:ln>
        </p:spPr>
        <p:style>
          <a:lnRef idx="1">
            <a:schemeClr val="accent1"/>
          </a:lnRef>
          <a:fillRef idx="0">
            <a:schemeClr val="accent1"/>
          </a:fillRef>
          <a:effectRef idx="0">
            <a:schemeClr val="accent1"/>
          </a:effectRef>
          <a:fontRef idx="minor">
            <a:schemeClr val="tx1"/>
          </a:fontRef>
        </p:style>
      </p:cxnSp>
      <p:sp>
        <p:nvSpPr>
          <p:cNvPr id="6" name="Rectangle: Rounded Corners 5">
            <a:extLst>
              <a:ext uri="{FF2B5EF4-FFF2-40B4-BE49-F238E27FC236}">
                <a16:creationId xmlns:a16="http://schemas.microsoft.com/office/drawing/2014/main" id="{1FBCB6CB-6091-4CBD-9180-21CDD9F99930}"/>
              </a:ext>
            </a:extLst>
          </p:cNvPr>
          <p:cNvSpPr/>
          <p:nvPr/>
        </p:nvSpPr>
        <p:spPr>
          <a:xfrm>
            <a:off x="6909813" y="1408967"/>
            <a:ext cx="3639603" cy="1707009"/>
          </a:xfrm>
          <a:prstGeom prst="roundRect">
            <a:avLst/>
          </a:prstGeom>
          <a:solidFill>
            <a:srgbClr val="1319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 name="Rectangle: Rounded Corners 7">
            <a:extLst>
              <a:ext uri="{FF2B5EF4-FFF2-40B4-BE49-F238E27FC236}">
                <a16:creationId xmlns:a16="http://schemas.microsoft.com/office/drawing/2014/main" id="{FD86E388-DDA8-4B95-9721-A9E1756A5F3C}"/>
              </a:ext>
            </a:extLst>
          </p:cNvPr>
          <p:cNvSpPr/>
          <p:nvPr/>
        </p:nvSpPr>
        <p:spPr>
          <a:xfrm>
            <a:off x="1357162" y="3633513"/>
            <a:ext cx="4301514" cy="3142671"/>
          </a:xfrm>
          <a:prstGeom prst="roundRect">
            <a:avLst/>
          </a:prstGeom>
          <a:solidFill>
            <a:srgbClr val="FF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Freeform: Shape 25">
            <a:extLst>
              <a:ext uri="{FF2B5EF4-FFF2-40B4-BE49-F238E27FC236}">
                <a16:creationId xmlns:a16="http://schemas.microsoft.com/office/drawing/2014/main" id="{FA212782-D7C3-4A9F-9838-90560E1D203D}"/>
              </a:ext>
            </a:extLst>
          </p:cNvPr>
          <p:cNvSpPr/>
          <p:nvPr/>
        </p:nvSpPr>
        <p:spPr>
          <a:xfrm>
            <a:off x="3099956" y="2976751"/>
            <a:ext cx="390201" cy="278450"/>
          </a:xfrm>
          <a:custGeom>
            <a:avLst/>
            <a:gdLst>
              <a:gd name="connsiteX0" fmla="*/ 378083 w 589280"/>
              <a:gd name="connsiteY0" fmla="*/ 364135 h 420514"/>
              <a:gd name="connsiteX1" fmla="*/ 377956 w 589280"/>
              <a:gd name="connsiteY1" fmla="*/ 364765 h 420514"/>
              <a:gd name="connsiteX2" fmla="*/ 376253 w 589280"/>
              <a:gd name="connsiteY2" fmla="*/ 367291 h 420514"/>
              <a:gd name="connsiteX3" fmla="*/ 0 w 589280"/>
              <a:gd name="connsiteY3" fmla="*/ 0 h 420514"/>
              <a:gd name="connsiteX4" fmla="*/ 589280 w 589280"/>
              <a:gd name="connsiteY4" fmla="*/ 0 h 420514"/>
              <a:gd name="connsiteX5" fmla="*/ 378082 w 589280"/>
              <a:gd name="connsiteY5" fmla="*/ 364134 h 420514"/>
              <a:gd name="connsiteX6" fmla="*/ 376252 w 589280"/>
              <a:gd name="connsiteY6" fmla="*/ 367290 h 420514"/>
              <a:gd name="connsiteX7" fmla="*/ 358392 w 589280"/>
              <a:gd name="connsiteY7" fmla="*/ 393778 h 420514"/>
              <a:gd name="connsiteX8" fmla="*/ 293847 w 589280"/>
              <a:gd name="connsiteY8" fmla="*/ 420514 h 420514"/>
              <a:gd name="connsiteX9" fmla="*/ 229302 w 589280"/>
              <a:gd name="connsiteY9" fmla="*/ 393778 h 420514"/>
              <a:gd name="connsiteX10" fmla="*/ 222787 w 589280"/>
              <a:gd name="connsiteY10" fmla="*/ 384116 h 420514"/>
              <a:gd name="connsiteX11" fmla="*/ 208765 w 589280"/>
              <a:gd name="connsiteY11" fmla="*/ 359940 h 420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89280" h="420514">
                <a:moveTo>
                  <a:pt x="378083" y="364135"/>
                </a:moveTo>
                <a:lnTo>
                  <a:pt x="377956" y="364765"/>
                </a:lnTo>
                <a:lnTo>
                  <a:pt x="376253" y="367291"/>
                </a:lnTo>
                <a:close/>
                <a:moveTo>
                  <a:pt x="0" y="0"/>
                </a:moveTo>
                <a:lnTo>
                  <a:pt x="589280" y="0"/>
                </a:lnTo>
                <a:lnTo>
                  <a:pt x="378082" y="364134"/>
                </a:lnTo>
                <a:lnTo>
                  <a:pt x="376252" y="367290"/>
                </a:lnTo>
                <a:lnTo>
                  <a:pt x="358392" y="393778"/>
                </a:lnTo>
                <a:cubicBezTo>
                  <a:pt x="341874" y="410297"/>
                  <a:pt x="319054" y="420514"/>
                  <a:pt x="293847" y="420514"/>
                </a:cubicBezTo>
                <a:cubicBezTo>
                  <a:pt x="268641" y="420514"/>
                  <a:pt x="245820" y="410297"/>
                  <a:pt x="229302" y="393778"/>
                </a:cubicBezTo>
                <a:lnTo>
                  <a:pt x="222787" y="384116"/>
                </a:lnTo>
                <a:lnTo>
                  <a:pt x="208765" y="359940"/>
                </a:lnTo>
                <a:close/>
              </a:path>
            </a:pathLst>
          </a:custGeom>
          <a:solidFill>
            <a:srgbClr val="13192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34" name="Oval 33">
            <a:extLst>
              <a:ext uri="{FF2B5EF4-FFF2-40B4-BE49-F238E27FC236}">
                <a16:creationId xmlns:a16="http://schemas.microsoft.com/office/drawing/2014/main" id="{776A381F-2E0C-4292-82B2-0F435B3B447B}"/>
              </a:ext>
            </a:extLst>
          </p:cNvPr>
          <p:cNvSpPr/>
          <p:nvPr/>
        </p:nvSpPr>
        <p:spPr>
          <a:xfrm>
            <a:off x="3217074" y="3358154"/>
            <a:ext cx="155963" cy="155963"/>
          </a:xfrm>
          <a:prstGeom prst="ellipse">
            <a:avLst/>
          </a:prstGeom>
          <a:solidFill>
            <a:srgbClr val="FF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Oval 36">
            <a:extLst>
              <a:ext uri="{FF2B5EF4-FFF2-40B4-BE49-F238E27FC236}">
                <a16:creationId xmlns:a16="http://schemas.microsoft.com/office/drawing/2014/main" id="{14046220-6E0F-4BB3-86D2-4844DFECB7AF}"/>
              </a:ext>
            </a:extLst>
          </p:cNvPr>
          <p:cNvSpPr/>
          <p:nvPr/>
        </p:nvSpPr>
        <p:spPr>
          <a:xfrm>
            <a:off x="8703558" y="3358153"/>
            <a:ext cx="155963" cy="155963"/>
          </a:xfrm>
          <a:prstGeom prst="ellipse">
            <a:avLst/>
          </a:prstGeom>
          <a:solidFill>
            <a:srgbClr val="FF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TextBox 38">
            <a:extLst>
              <a:ext uri="{FF2B5EF4-FFF2-40B4-BE49-F238E27FC236}">
                <a16:creationId xmlns:a16="http://schemas.microsoft.com/office/drawing/2014/main" id="{44A20F92-B2D0-4DAD-901B-CCB244E8021C}"/>
              </a:ext>
            </a:extLst>
          </p:cNvPr>
          <p:cNvSpPr txBox="1"/>
          <p:nvPr/>
        </p:nvSpPr>
        <p:spPr>
          <a:xfrm>
            <a:off x="1852078" y="1879813"/>
            <a:ext cx="2885958" cy="998671"/>
          </a:xfrm>
          <a:prstGeom prst="rect">
            <a:avLst/>
          </a:prstGeom>
          <a:noFill/>
        </p:spPr>
        <p:txBody>
          <a:bodyPr wrap="square" rtlCol="0">
            <a:spAutoFit/>
          </a:bodyPr>
          <a:lstStyle/>
          <a:p>
            <a:pPr>
              <a:lnSpc>
                <a:spcPct val="120000"/>
              </a:lnSpc>
            </a:pPr>
            <a:r>
              <a:rPr lang="en-US" sz="1000" b="0" i="0" dirty="0">
                <a:solidFill>
                  <a:schemeClr val="bg1"/>
                </a:solidFill>
                <a:effectLst/>
                <a:latin typeface="Roboto" panose="02000000000000000000" pitchFamily="2" charset="0"/>
                <a:ea typeface="Roboto" panose="02000000000000000000" pitchFamily="2" charset="0"/>
                <a:cs typeface="Roboto" panose="02000000000000000000" pitchFamily="2" charset="0"/>
              </a:rPr>
              <a:t>Initially, we applied class weights to penalize misclassifications in the Negative and Neutral classes. However, this approach did not produce optimal results in balancing the model's performance.</a:t>
            </a:r>
            <a:endParaRPr lang="en-IN" sz="100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41" name="TextBox 40">
            <a:extLst>
              <a:ext uri="{FF2B5EF4-FFF2-40B4-BE49-F238E27FC236}">
                <a16:creationId xmlns:a16="http://schemas.microsoft.com/office/drawing/2014/main" id="{7162E129-436B-4E70-BB18-F9F602A62A63}"/>
              </a:ext>
            </a:extLst>
          </p:cNvPr>
          <p:cNvSpPr txBox="1"/>
          <p:nvPr/>
        </p:nvSpPr>
        <p:spPr>
          <a:xfrm>
            <a:off x="7120965" y="1870327"/>
            <a:ext cx="3428451" cy="998671"/>
          </a:xfrm>
          <a:prstGeom prst="rect">
            <a:avLst/>
          </a:prstGeom>
          <a:noFill/>
        </p:spPr>
        <p:txBody>
          <a:bodyPr wrap="square" rtlCol="0">
            <a:spAutoFit/>
          </a:bodyPr>
          <a:lstStyle/>
          <a:p>
            <a:pPr>
              <a:lnSpc>
                <a:spcPct val="120000"/>
              </a:lnSpc>
            </a:pPr>
            <a:r>
              <a:rPr lang="en-US" sz="1000" b="0" i="0" dirty="0">
                <a:solidFill>
                  <a:schemeClr val="bg1"/>
                </a:solidFill>
                <a:effectLst/>
                <a:latin typeface="Roboto" panose="02000000000000000000" pitchFamily="2" charset="0"/>
                <a:ea typeface="Roboto" panose="02000000000000000000" pitchFamily="2" charset="0"/>
                <a:cs typeface="Roboto" panose="02000000000000000000" pitchFamily="2" charset="0"/>
              </a:rPr>
              <a:t>The more effective solution involved resampling the data. By combining and resampling the reviews, we were able to balance the distribution of sentiment classes. This method helped to reduce the bias towards the Positive class and ensured better performance</a:t>
            </a:r>
            <a:endParaRPr lang="en-IN" sz="100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5" name="TextBox 24">
            <a:extLst>
              <a:ext uri="{FF2B5EF4-FFF2-40B4-BE49-F238E27FC236}">
                <a16:creationId xmlns:a16="http://schemas.microsoft.com/office/drawing/2014/main" id="{5FBCFC5F-47CE-4239-853A-F74E1E3444AF}"/>
              </a:ext>
            </a:extLst>
          </p:cNvPr>
          <p:cNvSpPr txBox="1"/>
          <p:nvPr/>
        </p:nvSpPr>
        <p:spPr>
          <a:xfrm>
            <a:off x="1912953" y="1523603"/>
            <a:ext cx="1971188" cy="296428"/>
          </a:xfrm>
          <a:prstGeom prst="rect">
            <a:avLst/>
          </a:prstGeom>
          <a:noFill/>
        </p:spPr>
        <p:txBody>
          <a:bodyPr wrap="square" rtlCol="0">
            <a:spAutoFit/>
          </a:bodyPr>
          <a:lstStyle/>
          <a:p>
            <a:pPr>
              <a:lnSpc>
                <a:spcPct val="120000"/>
              </a:lnSpc>
            </a:pPr>
            <a:r>
              <a:rPr lang="en-US" sz="1200" b="1" i="0" dirty="0">
                <a:solidFill>
                  <a:schemeClr val="bg1"/>
                </a:solidFill>
                <a:effectLst/>
                <a:latin typeface="Roboto" panose="02000000000000000000" pitchFamily="2" charset="0"/>
                <a:ea typeface="Roboto" panose="02000000000000000000" pitchFamily="2" charset="0"/>
                <a:cs typeface="Roboto" panose="02000000000000000000" pitchFamily="2" charset="0"/>
              </a:rPr>
              <a:t>Class Weights:</a:t>
            </a:r>
            <a:endParaRPr lang="en-IN" sz="1200"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7" name="TextBox 26">
            <a:extLst>
              <a:ext uri="{FF2B5EF4-FFF2-40B4-BE49-F238E27FC236}">
                <a16:creationId xmlns:a16="http://schemas.microsoft.com/office/drawing/2014/main" id="{B169CAF8-058C-405C-AA6D-CB6539AC6E22}"/>
              </a:ext>
            </a:extLst>
          </p:cNvPr>
          <p:cNvSpPr txBox="1"/>
          <p:nvPr/>
        </p:nvSpPr>
        <p:spPr>
          <a:xfrm>
            <a:off x="7316765" y="1523603"/>
            <a:ext cx="1971188" cy="296428"/>
          </a:xfrm>
          <a:prstGeom prst="rect">
            <a:avLst/>
          </a:prstGeom>
          <a:noFill/>
        </p:spPr>
        <p:txBody>
          <a:bodyPr wrap="square" rtlCol="0">
            <a:spAutoFit/>
          </a:bodyPr>
          <a:lstStyle/>
          <a:p>
            <a:pPr>
              <a:lnSpc>
                <a:spcPct val="120000"/>
              </a:lnSpc>
            </a:pPr>
            <a:r>
              <a:rPr lang="en-IN" sz="1200" b="1" i="0" dirty="0">
                <a:solidFill>
                  <a:schemeClr val="bg1"/>
                </a:solidFill>
                <a:effectLst/>
                <a:latin typeface="Roboto" panose="02000000000000000000" pitchFamily="2" charset="0"/>
                <a:ea typeface="Roboto" panose="02000000000000000000" pitchFamily="2" charset="0"/>
                <a:cs typeface="Roboto" panose="02000000000000000000" pitchFamily="2" charset="0"/>
              </a:rPr>
              <a:t>Data Resampling:</a:t>
            </a:r>
            <a:endParaRPr lang="en-IN" sz="1200"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9" name="Rectangle: Rounded Corners 8">
            <a:extLst>
              <a:ext uri="{FF2B5EF4-FFF2-40B4-BE49-F238E27FC236}">
                <a16:creationId xmlns:a16="http://schemas.microsoft.com/office/drawing/2014/main" id="{53DAB730-43C1-B1D1-EEA3-91B177BC7ACB}"/>
              </a:ext>
            </a:extLst>
          </p:cNvPr>
          <p:cNvSpPr/>
          <p:nvPr/>
        </p:nvSpPr>
        <p:spPr>
          <a:xfrm>
            <a:off x="6344027" y="3627314"/>
            <a:ext cx="4301514" cy="3142670"/>
          </a:xfrm>
          <a:prstGeom prst="roundRect">
            <a:avLst/>
          </a:prstGeom>
          <a:solidFill>
            <a:srgbClr val="FF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1" name="Picture 10">
            <a:extLst>
              <a:ext uri="{FF2B5EF4-FFF2-40B4-BE49-F238E27FC236}">
                <a16:creationId xmlns:a16="http://schemas.microsoft.com/office/drawing/2014/main" id="{661DCD23-4682-2BA9-C980-5BC56FEDD5C0}"/>
              </a:ext>
            </a:extLst>
          </p:cNvPr>
          <p:cNvPicPr>
            <a:picLocks noChangeAspect="1"/>
          </p:cNvPicPr>
          <p:nvPr/>
        </p:nvPicPr>
        <p:blipFill>
          <a:blip r:embed="rId2"/>
          <a:stretch>
            <a:fillRect/>
          </a:stretch>
        </p:blipFill>
        <p:spPr>
          <a:xfrm>
            <a:off x="1794443" y="3877295"/>
            <a:ext cx="3391429" cy="2693193"/>
          </a:xfrm>
          <a:prstGeom prst="rect">
            <a:avLst/>
          </a:prstGeom>
          <a:ln w="19050">
            <a:solidFill>
              <a:srgbClr val="FF9900"/>
            </a:solidFill>
          </a:ln>
        </p:spPr>
      </p:pic>
      <p:pic>
        <p:nvPicPr>
          <p:cNvPr id="13" name="Picture 12">
            <a:extLst>
              <a:ext uri="{FF2B5EF4-FFF2-40B4-BE49-F238E27FC236}">
                <a16:creationId xmlns:a16="http://schemas.microsoft.com/office/drawing/2014/main" id="{4BCEF69D-8271-BE9D-8C55-803BAD3A77B2}"/>
              </a:ext>
            </a:extLst>
          </p:cNvPr>
          <p:cNvPicPr>
            <a:picLocks noChangeAspect="1"/>
          </p:cNvPicPr>
          <p:nvPr/>
        </p:nvPicPr>
        <p:blipFill>
          <a:blip r:embed="rId3"/>
          <a:stretch>
            <a:fillRect/>
          </a:stretch>
        </p:blipFill>
        <p:spPr>
          <a:xfrm>
            <a:off x="6853188" y="3877295"/>
            <a:ext cx="3334415" cy="2690721"/>
          </a:xfrm>
          <a:prstGeom prst="rect">
            <a:avLst/>
          </a:prstGeom>
          <a:ln w="19050">
            <a:solidFill>
              <a:srgbClr val="FF9900"/>
            </a:solidFill>
          </a:ln>
        </p:spPr>
      </p:pic>
    </p:spTree>
    <p:extLst>
      <p:ext uri="{BB962C8B-B14F-4D97-AF65-F5344CB8AC3E}">
        <p14:creationId xmlns:p14="http://schemas.microsoft.com/office/powerpoint/2010/main" val="38891260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07D2F3FD-31F1-4C82-930D-27CC1B593B02}"/>
              </a:ext>
            </a:extLst>
          </p:cNvPr>
          <p:cNvSpPr txBox="1"/>
          <p:nvPr/>
        </p:nvSpPr>
        <p:spPr>
          <a:xfrm>
            <a:off x="657569" y="4483165"/>
            <a:ext cx="4784969" cy="1600438"/>
          </a:xfrm>
          <a:prstGeom prst="rect">
            <a:avLst/>
          </a:prstGeom>
          <a:noFill/>
        </p:spPr>
        <p:txBody>
          <a:bodyPr wrap="square" rtlCol="0">
            <a:spAutoFit/>
          </a:bodyPr>
          <a:lstStyle/>
          <a:p>
            <a:pPr>
              <a:buNone/>
            </a:pPr>
            <a:r>
              <a:rPr lang="en-US" sz="1400" b="1" dirty="0"/>
              <a:t>Key Steps:</a:t>
            </a:r>
          </a:p>
          <a:p>
            <a:pPr>
              <a:buFont typeface="+mj-lt"/>
              <a:buAutoNum type="arabicPeriod"/>
            </a:pPr>
            <a:r>
              <a:rPr lang="en-US" sz="1200" b="1" dirty="0"/>
              <a:t>Combined review text and title</a:t>
            </a:r>
            <a:r>
              <a:rPr lang="en-US" sz="1200" dirty="0"/>
              <a:t> to provide better context.</a:t>
            </a:r>
          </a:p>
          <a:p>
            <a:pPr>
              <a:buFont typeface="+mj-lt"/>
              <a:buAutoNum type="arabicPeriod"/>
            </a:pPr>
            <a:r>
              <a:rPr lang="en-US" sz="1200" b="1" dirty="0"/>
              <a:t>Tokenized the text</a:t>
            </a:r>
            <a:r>
              <a:rPr lang="en-US" sz="1200" dirty="0"/>
              <a:t> using BERT’s tokenizer.</a:t>
            </a:r>
          </a:p>
          <a:p>
            <a:pPr>
              <a:buFont typeface="+mj-lt"/>
              <a:buAutoNum type="arabicPeriod"/>
            </a:pPr>
            <a:r>
              <a:rPr lang="en-US" sz="1200" b="1" dirty="0"/>
              <a:t>Created TensorFlow datasets</a:t>
            </a:r>
            <a:r>
              <a:rPr lang="en-US" sz="1200" dirty="0"/>
              <a:t> and batched the data for training.</a:t>
            </a:r>
          </a:p>
          <a:p>
            <a:pPr>
              <a:buFont typeface="+mj-lt"/>
              <a:buAutoNum type="arabicPeriod"/>
            </a:pPr>
            <a:r>
              <a:rPr lang="en-US" sz="1200" b="1" dirty="0"/>
              <a:t>Used a BERT classification model</a:t>
            </a:r>
            <a:r>
              <a:rPr lang="en-US" sz="1200" dirty="0"/>
              <a:t> with 3 output labels and 30% dropout for regularization.</a:t>
            </a:r>
          </a:p>
          <a:p>
            <a:pPr>
              <a:buFont typeface="+mj-lt"/>
              <a:buAutoNum type="arabicPeriod"/>
            </a:pPr>
            <a:r>
              <a:rPr lang="en-US" sz="1200" b="1" dirty="0"/>
              <a:t>Trained the model</a:t>
            </a:r>
            <a:r>
              <a:rPr lang="en-US" sz="1200" dirty="0"/>
              <a:t> over 10 epochs with appropriate optimizer and accuracy tracking.</a:t>
            </a:r>
          </a:p>
        </p:txBody>
      </p:sp>
      <p:sp>
        <p:nvSpPr>
          <p:cNvPr id="15" name="TextBox 14">
            <a:extLst>
              <a:ext uri="{FF2B5EF4-FFF2-40B4-BE49-F238E27FC236}">
                <a16:creationId xmlns:a16="http://schemas.microsoft.com/office/drawing/2014/main" id="{A2D790AD-8617-40AE-A240-0F2F2CF406C8}"/>
              </a:ext>
            </a:extLst>
          </p:cNvPr>
          <p:cNvSpPr txBox="1"/>
          <p:nvPr/>
        </p:nvSpPr>
        <p:spPr>
          <a:xfrm>
            <a:off x="586092" y="2061246"/>
            <a:ext cx="3980577" cy="1323439"/>
          </a:xfrm>
          <a:prstGeom prst="rect">
            <a:avLst/>
          </a:prstGeom>
          <a:noFill/>
        </p:spPr>
        <p:txBody>
          <a:bodyPr wrap="none" rtlCol="0">
            <a:spAutoFit/>
          </a:bodyPr>
          <a:lstStyle/>
          <a:p>
            <a:r>
              <a:rPr lang="en-US" sz="4400" b="1" dirty="0">
                <a:solidFill>
                  <a:srgbClr val="000000"/>
                </a:solidFill>
                <a:latin typeface="Inter" panose="020B0604020202020204" charset="0"/>
              </a:rPr>
              <a:t>C</a:t>
            </a:r>
            <a:r>
              <a:rPr lang="en-US" sz="4400" b="1" i="0" dirty="0">
                <a:solidFill>
                  <a:srgbClr val="000000"/>
                </a:solidFill>
                <a:effectLst/>
                <a:latin typeface="Inter" panose="020B0604020202020204" charset="0"/>
              </a:rPr>
              <a:t>lassification</a:t>
            </a:r>
            <a:endParaRPr lang="en-IN" sz="4400" dirty="0">
              <a:latin typeface="Fira Sans Medium" panose="020B0603050000020004" pitchFamily="34" charset="0"/>
            </a:endParaRPr>
          </a:p>
          <a:p>
            <a:endParaRPr lang="en-IN" sz="3600" dirty="0">
              <a:latin typeface="Fira Sans Medium" panose="020B0603050000020004" pitchFamily="34" charset="0"/>
            </a:endParaRPr>
          </a:p>
        </p:txBody>
      </p:sp>
      <p:sp>
        <p:nvSpPr>
          <p:cNvPr id="17" name="Graphic 4">
            <a:extLst>
              <a:ext uri="{FF2B5EF4-FFF2-40B4-BE49-F238E27FC236}">
                <a16:creationId xmlns:a16="http://schemas.microsoft.com/office/drawing/2014/main" id="{CD57E20B-33A1-4C5C-98F1-40B694DE3E8F}"/>
              </a:ext>
            </a:extLst>
          </p:cNvPr>
          <p:cNvSpPr/>
          <p:nvPr/>
        </p:nvSpPr>
        <p:spPr>
          <a:xfrm rot="2476041">
            <a:off x="-269976" y="-648288"/>
            <a:ext cx="1251936" cy="2210578"/>
          </a:xfrm>
          <a:custGeom>
            <a:avLst/>
            <a:gdLst>
              <a:gd name="connsiteX0" fmla="*/ 1112933 w 1137091"/>
              <a:gd name="connsiteY0" fmla="*/ 148024 h 1501074"/>
              <a:gd name="connsiteX1" fmla="*/ 1084358 w 1137091"/>
              <a:gd name="connsiteY1" fmla="*/ 625227 h 1501074"/>
              <a:gd name="connsiteX2" fmla="*/ 1081500 w 1137091"/>
              <a:gd name="connsiteY2" fmla="*/ 1030039 h 1501074"/>
              <a:gd name="connsiteX3" fmla="*/ 897668 w 1137091"/>
              <a:gd name="connsiteY3" fmla="*/ 1439615 h 1501074"/>
              <a:gd name="connsiteX4" fmla="*/ 429038 w 1137091"/>
              <a:gd name="connsiteY4" fmla="*/ 1446282 h 1501074"/>
              <a:gd name="connsiteX5" fmla="*/ 74708 w 1137091"/>
              <a:gd name="connsiteY5" fmla="*/ 1096715 h 1501074"/>
              <a:gd name="connsiteX6" fmla="*/ 7080 w 1137091"/>
              <a:gd name="connsiteY6" fmla="*/ 609035 h 1501074"/>
              <a:gd name="connsiteX7" fmla="*/ 194723 w 1137091"/>
              <a:gd name="connsiteY7" fmla="*/ 152787 h 1501074"/>
              <a:gd name="connsiteX8" fmla="*/ 679545 w 1137091"/>
              <a:gd name="connsiteY8" fmla="*/ 387 h 1501074"/>
              <a:gd name="connsiteX9" fmla="*/ 1112933 w 1137091"/>
              <a:gd name="connsiteY9" fmla="*/ 148024 h 1501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37091" h="1501074">
                <a:moveTo>
                  <a:pt x="1112933" y="148024"/>
                </a:moveTo>
                <a:cubicBezTo>
                  <a:pt x="1172940" y="267087"/>
                  <a:pt x="1105313" y="469969"/>
                  <a:pt x="1084358" y="625227"/>
                </a:cubicBezTo>
                <a:cubicBezTo>
                  <a:pt x="1064355" y="779532"/>
                  <a:pt x="1092930" y="886212"/>
                  <a:pt x="1081500" y="1030039"/>
                </a:cubicBezTo>
                <a:cubicBezTo>
                  <a:pt x="1069118" y="1173867"/>
                  <a:pt x="1018635" y="1353890"/>
                  <a:pt x="897668" y="1439615"/>
                </a:cubicBezTo>
                <a:cubicBezTo>
                  <a:pt x="776700" y="1525340"/>
                  <a:pt x="587153" y="1515815"/>
                  <a:pt x="429038" y="1446282"/>
                </a:cubicBezTo>
                <a:cubicBezTo>
                  <a:pt x="270923" y="1375797"/>
                  <a:pt x="146145" y="1246257"/>
                  <a:pt x="74708" y="1096715"/>
                </a:cubicBezTo>
                <a:cubicBezTo>
                  <a:pt x="4223" y="948125"/>
                  <a:pt x="-11017" y="780485"/>
                  <a:pt x="7080" y="609035"/>
                </a:cubicBezTo>
                <a:cubicBezTo>
                  <a:pt x="25178" y="436632"/>
                  <a:pt x="77565" y="261372"/>
                  <a:pt x="194723" y="152787"/>
                </a:cubicBezTo>
                <a:cubicBezTo>
                  <a:pt x="312833" y="44202"/>
                  <a:pt x="494760" y="3244"/>
                  <a:pt x="679545" y="387"/>
                </a:cubicBezTo>
                <a:cubicBezTo>
                  <a:pt x="865283" y="-3423"/>
                  <a:pt x="1052925" y="29915"/>
                  <a:pt x="1112933" y="148024"/>
                </a:cubicBezTo>
                <a:close/>
              </a:path>
            </a:pathLst>
          </a:custGeom>
          <a:solidFill>
            <a:srgbClr val="131921"/>
          </a:solidFill>
          <a:ln w="9525" cap="flat">
            <a:noFill/>
            <a:prstDash val="solid"/>
            <a:miter/>
          </a:ln>
        </p:spPr>
        <p:txBody>
          <a:bodyPr rtlCol="0" anchor="ctr"/>
          <a:lstStyle/>
          <a:p>
            <a:endParaRPr lang="en-IN" dirty="0"/>
          </a:p>
        </p:txBody>
      </p:sp>
      <p:sp>
        <p:nvSpPr>
          <p:cNvPr id="18" name="Graphic 4">
            <a:extLst>
              <a:ext uri="{FF2B5EF4-FFF2-40B4-BE49-F238E27FC236}">
                <a16:creationId xmlns:a16="http://schemas.microsoft.com/office/drawing/2014/main" id="{ED30B1BB-52E2-4005-8F4B-EF9AF5569359}"/>
              </a:ext>
            </a:extLst>
          </p:cNvPr>
          <p:cNvSpPr/>
          <p:nvPr/>
        </p:nvSpPr>
        <p:spPr>
          <a:xfrm rot="15002268" flipH="1">
            <a:off x="31601" y="-1336044"/>
            <a:ext cx="1251936" cy="2210578"/>
          </a:xfrm>
          <a:custGeom>
            <a:avLst/>
            <a:gdLst>
              <a:gd name="connsiteX0" fmla="*/ 1112933 w 1137091"/>
              <a:gd name="connsiteY0" fmla="*/ 148024 h 1501074"/>
              <a:gd name="connsiteX1" fmla="*/ 1084358 w 1137091"/>
              <a:gd name="connsiteY1" fmla="*/ 625227 h 1501074"/>
              <a:gd name="connsiteX2" fmla="*/ 1081500 w 1137091"/>
              <a:gd name="connsiteY2" fmla="*/ 1030039 h 1501074"/>
              <a:gd name="connsiteX3" fmla="*/ 897668 w 1137091"/>
              <a:gd name="connsiteY3" fmla="*/ 1439615 h 1501074"/>
              <a:gd name="connsiteX4" fmla="*/ 429038 w 1137091"/>
              <a:gd name="connsiteY4" fmla="*/ 1446282 h 1501074"/>
              <a:gd name="connsiteX5" fmla="*/ 74708 w 1137091"/>
              <a:gd name="connsiteY5" fmla="*/ 1096715 h 1501074"/>
              <a:gd name="connsiteX6" fmla="*/ 7080 w 1137091"/>
              <a:gd name="connsiteY6" fmla="*/ 609035 h 1501074"/>
              <a:gd name="connsiteX7" fmla="*/ 194723 w 1137091"/>
              <a:gd name="connsiteY7" fmla="*/ 152787 h 1501074"/>
              <a:gd name="connsiteX8" fmla="*/ 679545 w 1137091"/>
              <a:gd name="connsiteY8" fmla="*/ 387 h 1501074"/>
              <a:gd name="connsiteX9" fmla="*/ 1112933 w 1137091"/>
              <a:gd name="connsiteY9" fmla="*/ 148024 h 1501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37091" h="1501074">
                <a:moveTo>
                  <a:pt x="1112933" y="148024"/>
                </a:moveTo>
                <a:cubicBezTo>
                  <a:pt x="1172940" y="267087"/>
                  <a:pt x="1105313" y="469969"/>
                  <a:pt x="1084358" y="625227"/>
                </a:cubicBezTo>
                <a:cubicBezTo>
                  <a:pt x="1064355" y="779532"/>
                  <a:pt x="1092930" y="886212"/>
                  <a:pt x="1081500" y="1030039"/>
                </a:cubicBezTo>
                <a:cubicBezTo>
                  <a:pt x="1069118" y="1173867"/>
                  <a:pt x="1018635" y="1353890"/>
                  <a:pt x="897668" y="1439615"/>
                </a:cubicBezTo>
                <a:cubicBezTo>
                  <a:pt x="776700" y="1525340"/>
                  <a:pt x="587153" y="1515815"/>
                  <a:pt x="429038" y="1446282"/>
                </a:cubicBezTo>
                <a:cubicBezTo>
                  <a:pt x="270923" y="1375797"/>
                  <a:pt x="146145" y="1246257"/>
                  <a:pt x="74708" y="1096715"/>
                </a:cubicBezTo>
                <a:cubicBezTo>
                  <a:pt x="4223" y="948125"/>
                  <a:pt x="-11017" y="780485"/>
                  <a:pt x="7080" y="609035"/>
                </a:cubicBezTo>
                <a:cubicBezTo>
                  <a:pt x="25178" y="436632"/>
                  <a:pt x="77565" y="261372"/>
                  <a:pt x="194723" y="152787"/>
                </a:cubicBezTo>
                <a:cubicBezTo>
                  <a:pt x="312833" y="44202"/>
                  <a:pt x="494760" y="3244"/>
                  <a:pt x="679545" y="387"/>
                </a:cubicBezTo>
                <a:cubicBezTo>
                  <a:pt x="865283" y="-3423"/>
                  <a:pt x="1052925" y="29915"/>
                  <a:pt x="1112933" y="148024"/>
                </a:cubicBezTo>
                <a:close/>
              </a:path>
            </a:pathLst>
          </a:custGeom>
          <a:solidFill>
            <a:srgbClr val="232F3E"/>
          </a:solidFill>
          <a:ln w="9525" cap="flat">
            <a:noFill/>
            <a:prstDash val="solid"/>
            <a:miter/>
          </a:ln>
        </p:spPr>
        <p:txBody>
          <a:bodyPr rtlCol="0" anchor="ctr"/>
          <a:lstStyle/>
          <a:p>
            <a:endParaRPr lang="en-IN"/>
          </a:p>
        </p:txBody>
      </p:sp>
      <p:pic>
        <p:nvPicPr>
          <p:cNvPr id="14" name="Picture 13">
            <a:extLst>
              <a:ext uri="{FF2B5EF4-FFF2-40B4-BE49-F238E27FC236}">
                <a16:creationId xmlns:a16="http://schemas.microsoft.com/office/drawing/2014/main" id="{5A2EDD70-19CD-733C-2778-FECA5D5B0C88}"/>
              </a:ext>
            </a:extLst>
          </p:cNvPr>
          <p:cNvPicPr>
            <a:picLocks noChangeAspect="1"/>
          </p:cNvPicPr>
          <p:nvPr/>
        </p:nvPicPr>
        <p:blipFill>
          <a:blip r:embed="rId2"/>
          <a:stretch>
            <a:fillRect/>
          </a:stretch>
        </p:blipFill>
        <p:spPr>
          <a:xfrm>
            <a:off x="7905750" y="1149408"/>
            <a:ext cx="3328247" cy="2624494"/>
          </a:xfrm>
          <a:prstGeom prst="rect">
            <a:avLst/>
          </a:prstGeom>
          <a:solidFill>
            <a:schemeClr val="accent2"/>
          </a:solidFill>
          <a:ln>
            <a:solidFill>
              <a:srgbClr val="FF9900"/>
            </a:solidFill>
          </a:ln>
        </p:spPr>
      </p:pic>
      <p:pic>
        <p:nvPicPr>
          <p:cNvPr id="19" name="Picture 18">
            <a:extLst>
              <a:ext uri="{FF2B5EF4-FFF2-40B4-BE49-F238E27FC236}">
                <a16:creationId xmlns:a16="http://schemas.microsoft.com/office/drawing/2014/main" id="{2D80792F-6D26-2A84-D2B5-883D8DFAFA02}"/>
              </a:ext>
            </a:extLst>
          </p:cNvPr>
          <p:cNvPicPr>
            <a:picLocks noChangeAspect="1"/>
          </p:cNvPicPr>
          <p:nvPr/>
        </p:nvPicPr>
        <p:blipFill>
          <a:blip r:embed="rId3"/>
          <a:stretch>
            <a:fillRect/>
          </a:stretch>
        </p:blipFill>
        <p:spPr>
          <a:xfrm>
            <a:off x="7920085" y="4036519"/>
            <a:ext cx="3313912" cy="2624493"/>
          </a:xfrm>
          <a:prstGeom prst="rect">
            <a:avLst/>
          </a:prstGeom>
          <a:ln>
            <a:solidFill>
              <a:srgbClr val="FF9900"/>
            </a:solidFill>
          </a:ln>
        </p:spPr>
      </p:pic>
      <p:sp>
        <p:nvSpPr>
          <p:cNvPr id="6" name="Rectangle: Rounded Corners 5">
            <a:extLst>
              <a:ext uri="{FF2B5EF4-FFF2-40B4-BE49-F238E27FC236}">
                <a16:creationId xmlns:a16="http://schemas.microsoft.com/office/drawing/2014/main" id="{DC542C89-8FC5-4E6E-B09F-1F6DDB6FEF54}"/>
              </a:ext>
            </a:extLst>
          </p:cNvPr>
          <p:cNvSpPr/>
          <p:nvPr/>
        </p:nvSpPr>
        <p:spPr>
          <a:xfrm rot="2700000">
            <a:off x="7937132" y="3784922"/>
            <a:ext cx="196113" cy="745523"/>
          </a:xfrm>
          <a:prstGeom prst="roundRect">
            <a:avLst>
              <a:gd name="adj" fmla="val 13772"/>
            </a:avLst>
          </a:prstGeom>
          <a:solidFill>
            <a:srgbClr val="FF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Rounded Corners 19">
            <a:extLst>
              <a:ext uri="{FF2B5EF4-FFF2-40B4-BE49-F238E27FC236}">
                <a16:creationId xmlns:a16="http://schemas.microsoft.com/office/drawing/2014/main" id="{365075C6-36F6-705F-4F64-370B50D47977}"/>
              </a:ext>
            </a:extLst>
          </p:cNvPr>
          <p:cNvSpPr/>
          <p:nvPr/>
        </p:nvSpPr>
        <p:spPr>
          <a:xfrm rot="2700000">
            <a:off x="7937131" y="911461"/>
            <a:ext cx="196113" cy="745523"/>
          </a:xfrm>
          <a:prstGeom prst="roundRect">
            <a:avLst>
              <a:gd name="adj" fmla="val 13772"/>
            </a:avLst>
          </a:prstGeom>
          <a:solidFill>
            <a:srgbClr val="FF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extBox 20">
            <a:extLst>
              <a:ext uri="{FF2B5EF4-FFF2-40B4-BE49-F238E27FC236}">
                <a16:creationId xmlns:a16="http://schemas.microsoft.com/office/drawing/2014/main" id="{4D930893-A77C-6B34-0FCF-5E56E1CD7A1F}"/>
              </a:ext>
            </a:extLst>
          </p:cNvPr>
          <p:cNvSpPr txBox="1"/>
          <p:nvPr/>
        </p:nvSpPr>
        <p:spPr>
          <a:xfrm>
            <a:off x="657569" y="2921168"/>
            <a:ext cx="5232413" cy="1015663"/>
          </a:xfrm>
          <a:prstGeom prst="rect">
            <a:avLst/>
          </a:prstGeom>
          <a:noFill/>
        </p:spPr>
        <p:txBody>
          <a:bodyPr wrap="square" rtlCol="1">
            <a:spAutoFit/>
          </a:bodyPr>
          <a:lstStyle/>
          <a:p>
            <a:r>
              <a:rPr lang="en-US" sz="1200" b="1" dirty="0"/>
              <a:t>BERT</a:t>
            </a:r>
            <a:r>
              <a:rPr lang="en-US" sz="1200" dirty="0"/>
              <a:t> is a language model from Google that understands words based on their full context, both before and after the word, allowing it to capture meanings accurately. It relies on the Transformer encoder and is pretrained on tasks like predicting missing words and sentence relationships. BERT is used in tasks like sentiment analysis, question answering, and text classification. </a:t>
            </a:r>
            <a:endParaRPr lang="ar-SA" sz="1200" dirty="0"/>
          </a:p>
        </p:txBody>
      </p:sp>
    </p:spTree>
    <p:extLst>
      <p:ext uri="{BB962C8B-B14F-4D97-AF65-F5344CB8AC3E}">
        <p14:creationId xmlns:p14="http://schemas.microsoft.com/office/powerpoint/2010/main" val="23598103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B35895-9D0E-977E-2BC7-A40DD47476F8}"/>
            </a:ext>
          </a:extLst>
        </p:cNvPr>
        <p:cNvGrpSpPr/>
        <p:nvPr/>
      </p:nvGrpSpPr>
      <p:grpSpPr>
        <a:xfrm>
          <a:off x="0" y="0"/>
          <a:ext cx="0" cy="0"/>
          <a:chOff x="0" y="0"/>
          <a:chExt cx="0" cy="0"/>
        </a:xfrm>
      </p:grpSpPr>
      <p:pic>
        <p:nvPicPr>
          <p:cNvPr id="37" name="Picture 36">
            <a:extLst>
              <a:ext uri="{FF2B5EF4-FFF2-40B4-BE49-F238E27FC236}">
                <a16:creationId xmlns:a16="http://schemas.microsoft.com/office/drawing/2014/main" id="{0E236D03-3359-7861-F52F-68B6AB2C01AC}"/>
              </a:ext>
            </a:extLst>
          </p:cNvPr>
          <p:cNvPicPr>
            <a:picLocks noChangeAspect="1"/>
          </p:cNvPicPr>
          <p:nvPr/>
        </p:nvPicPr>
        <p:blipFill>
          <a:blip r:embed="rId2"/>
          <a:stretch>
            <a:fillRect/>
          </a:stretch>
        </p:blipFill>
        <p:spPr>
          <a:xfrm>
            <a:off x="9185716" y="1630197"/>
            <a:ext cx="2913873" cy="2784139"/>
          </a:xfrm>
          <a:prstGeom prst="rect">
            <a:avLst/>
          </a:prstGeom>
          <a:ln>
            <a:solidFill>
              <a:srgbClr val="FF9900"/>
            </a:solidFill>
          </a:ln>
        </p:spPr>
      </p:pic>
      <p:sp>
        <p:nvSpPr>
          <p:cNvPr id="13" name="TextBox 12">
            <a:extLst>
              <a:ext uri="{FF2B5EF4-FFF2-40B4-BE49-F238E27FC236}">
                <a16:creationId xmlns:a16="http://schemas.microsoft.com/office/drawing/2014/main" id="{573AFBA5-722E-50AE-D9F5-DCD36B1C4B72}"/>
              </a:ext>
            </a:extLst>
          </p:cNvPr>
          <p:cNvSpPr txBox="1"/>
          <p:nvPr/>
        </p:nvSpPr>
        <p:spPr>
          <a:xfrm>
            <a:off x="1171479" y="3831238"/>
            <a:ext cx="7169586" cy="1513363"/>
          </a:xfrm>
          <a:prstGeom prst="rect">
            <a:avLst/>
          </a:prstGeom>
          <a:noFill/>
        </p:spPr>
        <p:txBody>
          <a:bodyPr wrap="square" rtlCol="0">
            <a:spAutoFit/>
          </a:bodyPr>
          <a:lstStyle/>
          <a:p>
            <a:pPr>
              <a:lnSpc>
                <a:spcPct val="130000"/>
              </a:lnSpc>
            </a:pPr>
            <a:r>
              <a:rPr lang="en-US" sz="1200" b="1" dirty="0"/>
              <a:t>Key Steps:</a:t>
            </a:r>
          </a:p>
          <a:p>
            <a:pPr marL="228600" indent="-228600">
              <a:lnSpc>
                <a:spcPct val="130000"/>
              </a:lnSpc>
              <a:buAutoNum type="arabicPeriod"/>
            </a:pPr>
            <a:r>
              <a:rPr lang="en-US" sz="1200" b="1" dirty="0"/>
              <a:t>PCA</a:t>
            </a:r>
            <a:r>
              <a:rPr lang="en-US" sz="1200" dirty="0"/>
              <a:t>: Reduce dimensions to 2D for easier visualization.</a:t>
            </a:r>
            <a:endParaRPr lang="en-US" sz="1200" b="1" dirty="0"/>
          </a:p>
          <a:p>
            <a:pPr marL="228600" indent="-228600">
              <a:lnSpc>
                <a:spcPct val="130000"/>
              </a:lnSpc>
              <a:buAutoNum type="arabicPeriod"/>
            </a:pPr>
            <a:r>
              <a:rPr lang="en-US" sz="1200" b="1" dirty="0" err="1"/>
              <a:t>KMeans</a:t>
            </a:r>
            <a:r>
              <a:rPr lang="en-US" sz="1200" dirty="0"/>
              <a:t>: Cluster data into 4 groups based on similarity.</a:t>
            </a:r>
            <a:endParaRPr lang="en-US" sz="1200" b="1" dirty="0"/>
          </a:p>
          <a:p>
            <a:pPr marL="228600" indent="-228600">
              <a:lnSpc>
                <a:spcPct val="130000"/>
              </a:lnSpc>
              <a:buAutoNum type="arabicPeriod"/>
            </a:pPr>
            <a:r>
              <a:rPr lang="en-US" sz="1200" b="1" dirty="0"/>
              <a:t>Add Clusters</a:t>
            </a:r>
            <a:r>
              <a:rPr lang="en-US" sz="1200" dirty="0"/>
              <a:t>: Add cluster results to the </a:t>
            </a:r>
            <a:r>
              <a:rPr lang="en-US" sz="1200" dirty="0" err="1"/>
              <a:t>DataFrame</a:t>
            </a:r>
            <a:r>
              <a:rPr lang="en-US" sz="1200" dirty="0"/>
              <a:t>.</a:t>
            </a:r>
            <a:endParaRPr lang="en-US" sz="1200" b="1" dirty="0"/>
          </a:p>
          <a:p>
            <a:pPr marL="228600" indent="-228600">
              <a:lnSpc>
                <a:spcPct val="130000"/>
              </a:lnSpc>
              <a:buAutoNum type="arabicPeriod"/>
            </a:pPr>
            <a:r>
              <a:rPr lang="en-US" sz="1200" b="1" dirty="0"/>
              <a:t>Name Clusters</a:t>
            </a:r>
            <a:r>
              <a:rPr lang="en-US" sz="1200" dirty="0"/>
              <a:t>: Assign descriptive names to each cluster.</a:t>
            </a:r>
            <a:endParaRPr lang="en-US" sz="1200" b="1" dirty="0"/>
          </a:p>
          <a:p>
            <a:pPr marL="228600" indent="-228600">
              <a:lnSpc>
                <a:spcPct val="130000"/>
              </a:lnSpc>
              <a:buAutoNum type="arabicPeriod"/>
            </a:pPr>
            <a:r>
              <a:rPr lang="en-US" sz="1200" b="1" dirty="0"/>
              <a:t>Visualization</a:t>
            </a:r>
            <a:r>
              <a:rPr lang="en-US" sz="1200" dirty="0"/>
              <a:t>: Display results in a 2D scatter plot.</a:t>
            </a:r>
            <a:endParaRPr lang="en-US" sz="1200" b="1" dirty="0"/>
          </a:p>
        </p:txBody>
      </p:sp>
      <p:sp>
        <p:nvSpPr>
          <p:cNvPr id="15" name="TextBox 14">
            <a:extLst>
              <a:ext uri="{FF2B5EF4-FFF2-40B4-BE49-F238E27FC236}">
                <a16:creationId xmlns:a16="http://schemas.microsoft.com/office/drawing/2014/main" id="{0BB6C559-38FE-8921-6DB6-B94E77A4DDC2}"/>
              </a:ext>
            </a:extLst>
          </p:cNvPr>
          <p:cNvSpPr txBox="1"/>
          <p:nvPr/>
        </p:nvSpPr>
        <p:spPr>
          <a:xfrm>
            <a:off x="1061948" y="1144759"/>
            <a:ext cx="2800767" cy="769441"/>
          </a:xfrm>
          <a:prstGeom prst="rect">
            <a:avLst/>
          </a:prstGeom>
          <a:noFill/>
        </p:spPr>
        <p:txBody>
          <a:bodyPr wrap="none" rtlCol="0">
            <a:spAutoFit/>
          </a:bodyPr>
          <a:lstStyle/>
          <a:p>
            <a:r>
              <a:rPr lang="en-IN" sz="4400" dirty="0">
                <a:latin typeface="Fira Sans Medium" panose="020B0603050000020004" pitchFamily="34" charset="0"/>
              </a:rPr>
              <a:t>Clustering</a:t>
            </a:r>
            <a:endParaRPr lang="en-IN" sz="3600" dirty="0">
              <a:latin typeface="Fira Sans Medium" panose="020B0603050000020004" pitchFamily="34" charset="0"/>
            </a:endParaRPr>
          </a:p>
        </p:txBody>
      </p:sp>
      <p:sp>
        <p:nvSpPr>
          <p:cNvPr id="17" name="Graphic 4">
            <a:extLst>
              <a:ext uri="{FF2B5EF4-FFF2-40B4-BE49-F238E27FC236}">
                <a16:creationId xmlns:a16="http://schemas.microsoft.com/office/drawing/2014/main" id="{65497017-B87E-8CE8-5759-2E5F8531833F}"/>
              </a:ext>
            </a:extLst>
          </p:cNvPr>
          <p:cNvSpPr/>
          <p:nvPr/>
        </p:nvSpPr>
        <p:spPr>
          <a:xfrm rot="2476041">
            <a:off x="-269976" y="-648288"/>
            <a:ext cx="1251936" cy="2210578"/>
          </a:xfrm>
          <a:custGeom>
            <a:avLst/>
            <a:gdLst>
              <a:gd name="connsiteX0" fmla="*/ 1112933 w 1137091"/>
              <a:gd name="connsiteY0" fmla="*/ 148024 h 1501074"/>
              <a:gd name="connsiteX1" fmla="*/ 1084358 w 1137091"/>
              <a:gd name="connsiteY1" fmla="*/ 625227 h 1501074"/>
              <a:gd name="connsiteX2" fmla="*/ 1081500 w 1137091"/>
              <a:gd name="connsiteY2" fmla="*/ 1030039 h 1501074"/>
              <a:gd name="connsiteX3" fmla="*/ 897668 w 1137091"/>
              <a:gd name="connsiteY3" fmla="*/ 1439615 h 1501074"/>
              <a:gd name="connsiteX4" fmla="*/ 429038 w 1137091"/>
              <a:gd name="connsiteY4" fmla="*/ 1446282 h 1501074"/>
              <a:gd name="connsiteX5" fmla="*/ 74708 w 1137091"/>
              <a:gd name="connsiteY5" fmla="*/ 1096715 h 1501074"/>
              <a:gd name="connsiteX6" fmla="*/ 7080 w 1137091"/>
              <a:gd name="connsiteY6" fmla="*/ 609035 h 1501074"/>
              <a:gd name="connsiteX7" fmla="*/ 194723 w 1137091"/>
              <a:gd name="connsiteY7" fmla="*/ 152787 h 1501074"/>
              <a:gd name="connsiteX8" fmla="*/ 679545 w 1137091"/>
              <a:gd name="connsiteY8" fmla="*/ 387 h 1501074"/>
              <a:gd name="connsiteX9" fmla="*/ 1112933 w 1137091"/>
              <a:gd name="connsiteY9" fmla="*/ 148024 h 1501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37091" h="1501074">
                <a:moveTo>
                  <a:pt x="1112933" y="148024"/>
                </a:moveTo>
                <a:cubicBezTo>
                  <a:pt x="1172940" y="267087"/>
                  <a:pt x="1105313" y="469969"/>
                  <a:pt x="1084358" y="625227"/>
                </a:cubicBezTo>
                <a:cubicBezTo>
                  <a:pt x="1064355" y="779532"/>
                  <a:pt x="1092930" y="886212"/>
                  <a:pt x="1081500" y="1030039"/>
                </a:cubicBezTo>
                <a:cubicBezTo>
                  <a:pt x="1069118" y="1173867"/>
                  <a:pt x="1018635" y="1353890"/>
                  <a:pt x="897668" y="1439615"/>
                </a:cubicBezTo>
                <a:cubicBezTo>
                  <a:pt x="776700" y="1525340"/>
                  <a:pt x="587153" y="1515815"/>
                  <a:pt x="429038" y="1446282"/>
                </a:cubicBezTo>
                <a:cubicBezTo>
                  <a:pt x="270923" y="1375797"/>
                  <a:pt x="146145" y="1246257"/>
                  <a:pt x="74708" y="1096715"/>
                </a:cubicBezTo>
                <a:cubicBezTo>
                  <a:pt x="4223" y="948125"/>
                  <a:pt x="-11017" y="780485"/>
                  <a:pt x="7080" y="609035"/>
                </a:cubicBezTo>
                <a:cubicBezTo>
                  <a:pt x="25178" y="436632"/>
                  <a:pt x="77565" y="261372"/>
                  <a:pt x="194723" y="152787"/>
                </a:cubicBezTo>
                <a:cubicBezTo>
                  <a:pt x="312833" y="44202"/>
                  <a:pt x="494760" y="3244"/>
                  <a:pt x="679545" y="387"/>
                </a:cubicBezTo>
                <a:cubicBezTo>
                  <a:pt x="865283" y="-3423"/>
                  <a:pt x="1052925" y="29915"/>
                  <a:pt x="1112933" y="148024"/>
                </a:cubicBezTo>
                <a:close/>
              </a:path>
            </a:pathLst>
          </a:custGeom>
          <a:solidFill>
            <a:srgbClr val="131921"/>
          </a:solidFill>
          <a:ln w="9525" cap="flat">
            <a:noFill/>
            <a:prstDash val="solid"/>
            <a:miter/>
          </a:ln>
        </p:spPr>
        <p:txBody>
          <a:bodyPr rtlCol="0" anchor="ctr"/>
          <a:lstStyle/>
          <a:p>
            <a:endParaRPr lang="en-IN" dirty="0"/>
          </a:p>
        </p:txBody>
      </p:sp>
      <p:sp>
        <p:nvSpPr>
          <p:cNvPr id="18" name="Graphic 4">
            <a:extLst>
              <a:ext uri="{FF2B5EF4-FFF2-40B4-BE49-F238E27FC236}">
                <a16:creationId xmlns:a16="http://schemas.microsoft.com/office/drawing/2014/main" id="{455322CA-87B1-548B-EB69-18AB3B518EB6}"/>
              </a:ext>
            </a:extLst>
          </p:cNvPr>
          <p:cNvSpPr/>
          <p:nvPr/>
        </p:nvSpPr>
        <p:spPr>
          <a:xfrm rot="15002268" flipH="1">
            <a:off x="31601" y="-1336044"/>
            <a:ext cx="1251936" cy="2210578"/>
          </a:xfrm>
          <a:custGeom>
            <a:avLst/>
            <a:gdLst>
              <a:gd name="connsiteX0" fmla="*/ 1112933 w 1137091"/>
              <a:gd name="connsiteY0" fmla="*/ 148024 h 1501074"/>
              <a:gd name="connsiteX1" fmla="*/ 1084358 w 1137091"/>
              <a:gd name="connsiteY1" fmla="*/ 625227 h 1501074"/>
              <a:gd name="connsiteX2" fmla="*/ 1081500 w 1137091"/>
              <a:gd name="connsiteY2" fmla="*/ 1030039 h 1501074"/>
              <a:gd name="connsiteX3" fmla="*/ 897668 w 1137091"/>
              <a:gd name="connsiteY3" fmla="*/ 1439615 h 1501074"/>
              <a:gd name="connsiteX4" fmla="*/ 429038 w 1137091"/>
              <a:gd name="connsiteY4" fmla="*/ 1446282 h 1501074"/>
              <a:gd name="connsiteX5" fmla="*/ 74708 w 1137091"/>
              <a:gd name="connsiteY5" fmla="*/ 1096715 h 1501074"/>
              <a:gd name="connsiteX6" fmla="*/ 7080 w 1137091"/>
              <a:gd name="connsiteY6" fmla="*/ 609035 h 1501074"/>
              <a:gd name="connsiteX7" fmla="*/ 194723 w 1137091"/>
              <a:gd name="connsiteY7" fmla="*/ 152787 h 1501074"/>
              <a:gd name="connsiteX8" fmla="*/ 679545 w 1137091"/>
              <a:gd name="connsiteY8" fmla="*/ 387 h 1501074"/>
              <a:gd name="connsiteX9" fmla="*/ 1112933 w 1137091"/>
              <a:gd name="connsiteY9" fmla="*/ 148024 h 1501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37091" h="1501074">
                <a:moveTo>
                  <a:pt x="1112933" y="148024"/>
                </a:moveTo>
                <a:cubicBezTo>
                  <a:pt x="1172940" y="267087"/>
                  <a:pt x="1105313" y="469969"/>
                  <a:pt x="1084358" y="625227"/>
                </a:cubicBezTo>
                <a:cubicBezTo>
                  <a:pt x="1064355" y="779532"/>
                  <a:pt x="1092930" y="886212"/>
                  <a:pt x="1081500" y="1030039"/>
                </a:cubicBezTo>
                <a:cubicBezTo>
                  <a:pt x="1069118" y="1173867"/>
                  <a:pt x="1018635" y="1353890"/>
                  <a:pt x="897668" y="1439615"/>
                </a:cubicBezTo>
                <a:cubicBezTo>
                  <a:pt x="776700" y="1525340"/>
                  <a:pt x="587153" y="1515815"/>
                  <a:pt x="429038" y="1446282"/>
                </a:cubicBezTo>
                <a:cubicBezTo>
                  <a:pt x="270923" y="1375797"/>
                  <a:pt x="146145" y="1246257"/>
                  <a:pt x="74708" y="1096715"/>
                </a:cubicBezTo>
                <a:cubicBezTo>
                  <a:pt x="4223" y="948125"/>
                  <a:pt x="-11017" y="780485"/>
                  <a:pt x="7080" y="609035"/>
                </a:cubicBezTo>
                <a:cubicBezTo>
                  <a:pt x="25178" y="436632"/>
                  <a:pt x="77565" y="261372"/>
                  <a:pt x="194723" y="152787"/>
                </a:cubicBezTo>
                <a:cubicBezTo>
                  <a:pt x="312833" y="44202"/>
                  <a:pt x="494760" y="3244"/>
                  <a:pt x="679545" y="387"/>
                </a:cubicBezTo>
                <a:cubicBezTo>
                  <a:pt x="865283" y="-3423"/>
                  <a:pt x="1052925" y="29915"/>
                  <a:pt x="1112933" y="148024"/>
                </a:cubicBezTo>
                <a:close/>
              </a:path>
            </a:pathLst>
          </a:custGeom>
          <a:solidFill>
            <a:srgbClr val="232F3E"/>
          </a:solidFill>
          <a:ln w="9525" cap="flat">
            <a:noFill/>
            <a:prstDash val="solid"/>
            <a:miter/>
          </a:ln>
        </p:spPr>
        <p:txBody>
          <a:bodyPr rtlCol="0" anchor="ctr"/>
          <a:lstStyle/>
          <a:p>
            <a:endParaRPr lang="en-IN"/>
          </a:p>
        </p:txBody>
      </p:sp>
      <p:sp>
        <p:nvSpPr>
          <p:cNvPr id="25" name="Rectangle: Rounded Corners 24">
            <a:extLst>
              <a:ext uri="{FF2B5EF4-FFF2-40B4-BE49-F238E27FC236}">
                <a16:creationId xmlns:a16="http://schemas.microsoft.com/office/drawing/2014/main" id="{C24301B8-6A60-34EB-5112-A45CFD76C5BB}"/>
              </a:ext>
            </a:extLst>
          </p:cNvPr>
          <p:cNvSpPr/>
          <p:nvPr/>
        </p:nvSpPr>
        <p:spPr>
          <a:xfrm rot="2700000">
            <a:off x="9222207" y="1504494"/>
            <a:ext cx="87747" cy="443654"/>
          </a:xfrm>
          <a:prstGeom prst="roundRect">
            <a:avLst>
              <a:gd name="adj" fmla="val 13772"/>
            </a:avLst>
          </a:prstGeom>
          <a:solidFill>
            <a:srgbClr val="FF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3" name="TextBox 32">
            <a:extLst>
              <a:ext uri="{FF2B5EF4-FFF2-40B4-BE49-F238E27FC236}">
                <a16:creationId xmlns:a16="http://schemas.microsoft.com/office/drawing/2014/main" id="{C752C135-C0AF-DC6F-2045-62438D423253}"/>
              </a:ext>
            </a:extLst>
          </p:cNvPr>
          <p:cNvSpPr txBox="1"/>
          <p:nvPr/>
        </p:nvSpPr>
        <p:spPr>
          <a:xfrm>
            <a:off x="1171479" y="1945889"/>
            <a:ext cx="4666827" cy="1015663"/>
          </a:xfrm>
          <a:prstGeom prst="rect">
            <a:avLst/>
          </a:prstGeom>
          <a:noFill/>
        </p:spPr>
        <p:txBody>
          <a:bodyPr wrap="square" rtlCol="1">
            <a:spAutoFit/>
          </a:bodyPr>
          <a:lstStyle/>
          <a:p>
            <a:r>
              <a:rPr lang="en-US" sz="1200" b="1" dirty="0" err="1"/>
              <a:t>KMeans</a:t>
            </a:r>
            <a:r>
              <a:rPr lang="en-US" sz="1200" b="1" dirty="0"/>
              <a:t> Clustering</a:t>
            </a:r>
            <a:r>
              <a:rPr lang="en-US" sz="1200" dirty="0"/>
              <a:t> is an unsupervised learning algorithm that groups data points into</a:t>
            </a:r>
            <a:r>
              <a:rPr lang="ar-SA" sz="1200" dirty="0"/>
              <a:t> </a:t>
            </a:r>
            <a:r>
              <a:rPr lang="en-US" sz="1200" dirty="0"/>
              <a:t>k clusters based on similarity. It assigns data points to the nearest centroid, updates centroids iteratively, and repeats until convergence. The result is useful for grouping similar items and identifying patterns in data.</a:t>
            </a:r>
            <a:endParaRPr lang="ar-SA" sz="1200" dirty="0"/>
          </a:p>
        </p:txBody>
      </p:sp>
      <p:pic>
        <p:nvPicPr>
          <p:cNvPr id="5129" name="Picture 9">
            <a:extLst>
              <a:ext uri="{FF2B5EF4-FFF2-40B4-BE49-F238E27FC236}">
                <a16:creationId xmlns:a16="http://schemas.microsoft.com/office/drawing/2014/main" id="{4E67C967-DA10-4219-7E87-D8DB4F8DCA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85716" y="4573197"/>
            <a:ext cx="2913874" cy="2121654"/>
          </a:xfrm>
          <a:prstGeom prst="rect">
            <a:avLst/>
          </a:prstGeom>
          <a:noFill/>
          <a:ln>
            <a:solidFill>
              <a:srgbClr val="FF9900"/>
            </a:solidFill>
          </a:ln>
          <a:extLst>
            <a:ext uri="{909E8E84-426E-40DD-AFC4-6F175D3DCCD1}">
              <a14:hiddenFill xmlns:a14="http://schemas.microsoft.com/office/drawing/2010/main">
                <a:solidFill>
                  <a:srgbClr val="FFFFFF"/>
                </a:solidFill>
              </a14:hiddenFill>
            </a:ext>
          </a:extLst>
        </p:spPr>
      </p:pic>
      <p:sp>
        <p:nvSpPr>
          <p:cNvPr id="26" name="Rectangle: Rounded Corners 25">
            <a:extLst>
              <a:ext uri="{FF2B5EF4-FFF2-40B4-BE49-F238E27FC236}">
                <a16:creationId xmlns:a16="http://schemas.microsoft.com/office/drawing/2014/main" id="{0EDC89A3-FEF1-B833-AD29-704205597F3C}"/>
              </a:ext>
            </a:extLst>
          </p:cNvPr>
          <p:cNvSpPr/>
          <p:nvPr/>
        </p:nvSpPr>
        <p:spPr>
          <a:xfrm rot="2700000">
            <a:off x="9222208" y="4414357"/>
            <a:ext cx="87747" cy="443654"/>
          </a:xfrm>
          <a:prstGeom prst="roundRect">
            <a:avLst>
              <a:gd name="adj" fmla="val 13772"/>
            </a:avLst>
          </a:prstGeom>
          <a:solidFill>
            <a:srgbClr val="FF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39" name="Picture 38">
            <a:extLst>
              <a:ext uri="{FF2B5EF4-FFF2-40B4-BE49-F238E27FC236}">
                <a16:creationId xmlns:a16="http://schemas.microsoft.com/office/drawing/2014/main" id="{356457E9-F2FF-30E1-3958-1B0105AF8545}"/>
              </a:ext>
            </a:extLst>
          </p:cNvPr>
          <p:cNvPicPr>
            <a:picLocks noChangeAspect="1"/>
          </p:cNvPicPr>
          <p:nvPr/>
        </p:nvPicPr>
        <p:blipFill>
          <a:blip r:embed="rId4"/>
          <a:stretch>
            <a:fillRect/>
          </a:stretch>
        </p:blipFill>
        <p:spPr>
          <a:xfrm>
            <a:off x="9185717" y="271522"/>
            <a:ext cx="2913873" cy="1251014"/>
          </a:xfrm>
          <a:prstGeom prst="rect">
            <a:avLst/>
          </a:prstGeom>
        </p:spPr>
      </p:pic>
      <p:sp>
        <p:nvSpPr>
          <p:cNvPr id="24" name="Rectangle: Rounded Corners 23">
            <a:extLst>
              <a:ext uri="{FF2B5EF4-FFF2-40B4-BE49-F238E27FC236}">
                <a16:creationId xmlns:a16="http://schemas.microsoft.com/office/drawing/2014/main" id="{9A8F3BC4-7BCA-7605-382F-1DC0AAF53115}"/>
              </a:ext>
            </a:extLst>
          </p:cNvPr>
          <p:cNvSpPr/>
          <p:nvPr/>
        </p:nvSpPr>
        <p:spPr>
          <a:xfrm rot="2700000">
            <a:off x="9222208" y="141316"/>
            <a:ext cx="87747" cy="443654"/>
          </a:xfrm>
          <a:prstGeom prst="roundRect">
            <a:avLst>
              <a:gd name="adj" fmla="val 13772"/>
            </a:avLst>
          </a:prstGeom>
          <a:solidFill>
            <a:srgbClr val="FF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8536961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2DF56-D1FB-0105-A1A0-B11FE2F5E696}"/>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CCE8E041-3961-7790-96BC-EC64C4432EA0}"/>
              </a:ext>
            </a:extLst>
          </p:cNvPr>
          <p:cNvSpPr txBox="1"/>
          <p:nvPr/>
        </p:nvSpPr>
        <p:spPr>
          <a:xfrm>
            <a:off x="1669825" y="1844004"/>
            <a:ext cx="4784969" cy="1384995"/>
          </a:xfrm>
          <a:prstGeom prst="rect">
            <a:avLst/>
          </a:prstGeom>
          <a:noFill/>
        </p:spPr>
        <p:txBody>
          <a:bodyPr wrap="square" rtlCol="0">
            <a:spAutoFit/>
          </a:bodyPr>
          <a:lstStyle/>
          <a:p>
            <a:pPr>
              <a:buNone/>
            </a:pPr>
            <a:r>
              <a:rPr lang="en-US" sz="1200" b="1" dirty="0"/>
              <a:t>BART</a:t>
            </a:r>
            <a:r>
              <a:rPr lang="en-US" sz="1200" dirty="0"/>
              <a:t> is a powerful model developed by Facebook AI, combining </a:t>
            </a:r>
            <a:r>
              <a:rPr lang="en-US" sz="1200" b="1" dirty="0"/>
              <a:t>Bidirectional Encoding</a:t>
            </a:r>
            <a:r>
              <a:rPr lang="en-US" sz="1200" dirty="0"/>
              <a:t> (like BERT) and </a:t>
            </a:r>
            <a:r>
              <a:rPr lang="en-US" sz="1200" b="1" dirty="0"/>
              <a:t>Autoregressive Decoding</a:t>
            </a:r>
            <a:r>
              <a:rPr lang="en-US" sz="1200" dirty="0"/>
              <a:t> (like GPT). It processes text by understanding context in both directions and then generates text in a sequence.</a:t>
            </a:r>
          </a:p>
          <a:p>
            <a:r>
              <a:rPr lang="en-US" sz="1200" dirty="0"/>
              <a:t>It is trained on tasks like </a:t>
            </a:r>
            <a:r>
              <a:rPr lang="en-US" sz="1200" b="1" dirty="0"/>
              <a:t>text summarization</a:t>
            </a:r>
            <a:r>
              <a:rPr lang="en-US" sz="1200" dirty="0"/>
              <a:t> and </a:t>
            </a:r>
            <a:r>
              <a:rPr lang="en-US" sz="1200" b="1" dirty="0"/>
              <a:t>text generation</a:t>
            </a:r>
            <a:r>
              <a:rPr lang="en-US" sz="1200" dirty="0"/>
              <a:t>, where it learns to rebuild text by predicting missing or altered parts. This makes it effective for summarizing long texts and generating coherent summaries.</a:t>
            </a:r>
          </a:p>
        </p:txBody>
      </p:sp>
      <p:sp>
        <p:nvSpPr>
          <p:cNvPr id="15" name="TextBox 14">
            <a:extLst>
              <a:ext uri="{FF2B5EF4-FFF2-40B4-BE49-F238E27FC236}">
                <a16:creationId xmlns:a16="http://schemas.microsoft.com/office/drawing/2014/main" id="{0B1E5438-8C16-0465-85A5-AF260454BE76}"/>
              </a:ext>
            </a:extLst>
          </p:cNvPr>
          <p:cNvSpPr txBox="1"/>
          <p:nvPr/>
        </p:nvSpPr>
        <p:spPr>
          <a:xfrm>
            <a:off x="1663052" y="816671"/>
            <a:ext cx="3393878" cy="769441"/>
          </a:xfrm>
          <a:prstGeom prst="rect">
            <a:avLst/>
          </a:prstGeom>
          <a:noFill/>
        </p:spPr>
        <p:txBody>
          <a:bodyPr wrap="none" rtlCol="0">
            <a:spAutoFit/>
          </a:bodyPr>
          <a:lstStyle/>
          <a:p>
            <a:r>
              <a:rPr lang="en-US" sz="4400" b="1" dirty="0">
                <a:solidFill>
                  <a:srgbClr val="000000"/>
                </a:solidFill>
                <a:latin typeface="Inter" panose="020B0604020202020204" charset="0"/>
              </a:rPr>
              <a:t>S</a:t>
            </a:r>
            <a:r>
              <a:rPr lang="en-US" sz="4400" b="1" i="0" dirty="0">
                <a:solidFill>
                  <a:srgbClr val="000000"/>
                </a:solidFill>
                <a:effectLst/>
                <a:latin typeface="Inter" panose="020B0604020202020204" charset="0"/>
              </a:rPr>
              <a:t>ummarize</a:t>
            </a:r>
            <a:endParaRPr lang="en-IN" sz="3600" dirty="0">
              <a:latin typeface="Fira Sans Medium" panose="020B0603050000020004" pitchFamily="34" charset="0"/>
            </a:endParaRPr>
          </a:p>
        </p:txBody>
      </p:sp>
      <p:sp>
        <p:nvSpPr>
          <p:cNvPr id="17" name="Graphic 4">
            <a:extLst>
              <a:ext uri="{FF2B5EF4-FFF2-40B4-BE49-F238E27FC236}">
                <a16:creationId xmlns:a16="http://schemas.microsoft.com/office/drawing/2014/main" id="{F8DF2D38-A6E5-8A79-C76F-3B5C563F544A}"/>
              </a:ext>
            </a:extLst>
          </p:cNvPr>
          <p:cNvSpPr/>
          <p:nvPr/>
        </p:nvSpPr>
        <p:spPr>
          <a:xfrm rot="2476041">
            <a:off x="-269976" y="-648288"/>
            <a:ext cx="1251936" cy="2210578"/>
          </a:xfrm>
          <a:custGeom>
            <a:avLst/>
            <a:gdLst>
              <a:gd name="connsiteX0" fmla="*/ 1112933 w 1137091"/>
              <a:gd name="connsiteY0" fmla="*/ 148024 h 1501074"/>
              <a:gd name="connsiteX1" fmla="*/ 1084358 w 1137091"/>
              <a:gd name="connsiteY1" fmla="*/ 625227 h 1501074"/>
              <a:gd name="connsiteX2" fmla="*/ 1081500 w 1137091"/>
              <a:gd name="connsiteY2" fmla="*/ 1030039 h 1501074"/>
              <a:gd name="connsiteX3" fmla="*/ 897668 w 1137091"/>
              <a:gd name="connsiteY3" fmla="*/ 1439615 h 1501074"/>
              <a:gd name="connsiteX4" fmla="*/ 429038 w 1137091"/>
              <a:gd name="connsiteY4" fmla="*/ 1446282 h 1501074"/>
              <a:gd name="connsiteX5" fmla="*/ 74708 w 1137091"/>
              <a:gd name="connsiteY5" fmla="*/ 1096715 h 1501074"/>
              <a:gd name="connsiteX6" fmla="*/ 7080 w 1137091"/>
              <a:gd name="connsiteY6" fmla="*/ 609035 h 1501074"/>
              <a:gd name="connsiteX7" fmla="*/ 194723 w 1137091"/>
              <a:gd name="connsiteY7" fmla="*/ 152787 h 1501074"/>
              <a:gd name="connsiteX8" fmla="*/ 679545 w 1137091"/>
              <a:gd name="connsiteY8" fmla="*/ 387 h 1501074"/>
              <a:gd name="connsiteX9" fmla="*/ 1112933 w 1137091"/>
              <a:gd name="connsiteY9" fmla="*/ 148024 h 1501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37091" h="1501074">
                <a:moveTo>
                  <a:pt x="1112933" y="148024"/>
                </a:moveTo>
                <a:cubicBezTo>
                  <a:pt x="1172940" y="267087"/>
                  <a:pt x="1105313" y="469969"/>
                  <a:pt x="1084358" y="625227"/>
                </a:cubicBezTo>
                <a:cubicBezTo>
                  <a:pt x="1064355" y="779532"/>
                  <a:pt x="1092930" y="886212"/>
                  <a:pt x="1081500" y="1030039"/>
                </a:cubicBezTo>
                <a:cubicBezTo>
                  <a:pt x="1069118" y="1173867"/>
                  <a:pt x="1018635" y="1353890"/>
                  <a:pt x="897668" y="1439615"/>
                </a:cubicBezTo>
                <a:cubicBezTo>
                  <a:pt x="776700" y="1525340"/>
                  <a:pt x="587153" y="1515815"/>
                  <a:pt x="429038" y="1446282"/>
                </a:cubicBezTo>
                <a:cubicBezTo>
                  <a:pt x="270923" y="1375797"/>
                  <a:pt x="146145" y="1246257"/>
                  <a:pt x="74708" y="1096715"/>
                </a:cubicBezTo>
                <a:cubicBezTo>
                  <a:pt x="4223" y="948125"/>
                  <a:pt x="-11017" y="780485"/>
                  <a:pt x="7080" y="609035"/>
                </a:cubicBezTo>
                <a:cubicBezTo>
                  <a:pt x="25178" y="436632"/>
                  <a:pt x="77565" y="261372"/>
                  <a:pt x="194723" y="152787"/>
                </a:cubicBezTo>
                <a:cubicBezTo>
                  <a:pt x="312833" y="44202"/>
                  <a:pt x="494760" y="3244"/>
                  <a:pt x="679545" y="387"/>
                </a:cubicBezTo>
                <a:cubicBezTo>
                  <a:pt x="865283" y="-3423"/>
                  <a:pt x="1052925" y="29915"/>
                  <a:pt x="1112933" y="148024"/>
                </a:cubicBezTo>
                <a:close/>
              </a:path>
            </a:pathLst>
          </a:custGeom>
          <a:solidFill>
            <a:srgbClr val="131921"/>
          </a:solidFill>
          <a:ln w="9525" cap="flat">
            <a:noFill/>
            <a:prstDash val="solid"/>
            <a:miter/>
          </a:ln>
        </p:spPr>
        <p:txBody>
          <a:bodyPr rtlCol="0" anchor="ctr"/>
          <a:lstStyle/>
          <a:p>
            <a:endParaRPr lang="en-IN" dirty="0"/>
          </a:p>
        </p:txBody>
      </p:sp>
      <p:sp>
        <p:nvSpPr>
          <p:cNvPr id="18" name="Graphic 4">
            <a:extLst>
              <a:ext uri="{FF2B5EF4-FFF2-40B4-BE49-F238E27FC236}">
                <a16:creationId xmlns:a16="http://schemas.microsoft.com/office/drawing/2014/main" id="{20A2FFF9-6B0C-EE72-FE1A-EBCE42A81C9A}"/>
              </a:ext>
            </a:extLst>
          </p:cNvPr>
          <p:cNvSpPr/>
          <p:nvPr/>
        </p:nvSpPr>
        <p:spPr>
          <a:xfrm rot="15002268" flipH="1">
            <a:off x="31601" y="-1336044"/>
            <a:ext cx="1251936" cy="2210578"/>
          </a:xfrm>
          <a:custGeom>
            <a:avLst/>
            <a:gdLst>
              <a:gd name="connsiteX0" fmla="*/ 1112933 w 1137091"/>
              <a:gd name="connsiteY0" fmla="*/ 148024 h 1501074"/>
              <a:gd name="connsiteX1" fmla="*/ 1084358 w 1137091"/>
              <a:gd name="connsiteY1" fmla="*/ 625227 h 1501074"/>
              <a:gd name="connsiteX2" fmla="*/ 1081500 w 1137091"/>
              <a:gd name="connsiteY2" fmla="*/ 1030039 h 1501074"/>
              <a:gd name="connsiteX3" fmla="*/ 897668 w 1137091"/>
              <a:gd name="connsiteY3" fmla="*/ 1439615 h 1501074"/>
              <a:gd name="connsiteX4" fmla="*/ 429038 w 1137091"/>
              <a:gd name="connsiteY4" fmla="*/ 1446282 h 1501074"/>
              <a:gd name="connsiteX5" fmla="*/ 74708 w 1137091"/>
              <a:gd name="connsiteY5" fmla="*/ 1096715 h 1501074"/>
              <a:gd name="connsiteX6" fmla="*/ 7080 w 1137091"/>
              <a:gd name="connsiteY6" fmla="*/ 609035 h 1501074"/>
              <a:gd name="connsiteX7" fmla="*/ 194723 w 1137091"/>
              <a:gd name="connsiteY7" fmla="*/ 152787 h 1501074"/>
              <a:gd name="connsiteX8" fmla="*/ 679545 w 1137091"/>
              <a:gd name="connsiteY8" fmla="*/ 387 h 1501074"/>
              <a:gd name="connsiteX9" fmla="*/ 1112933 w 1137091"/>
              <a:gd name="connsiteY9" fmla="*/ 148024 h 1501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37091" h="1501074">
                <a:moveTo>
                  <a:pt x="1112933" y="148024"/>
                </a:moveTo>
                <a:cubicBezTo>
                  <a:pt x="1172940" y="267087"/>
                  <a:pt x="1105313" y="469969"/>
                  <a:pt x="1084358" y="625227"/>
                </a:cubicBezTo>
                <a:cubicBezTo>
                  <a:pt x="1064355" y="779532"/>
                  <a:pt x="1092930" y="886212"/>
                  <a:pt x="1081500" y="1030039"/>
                </a:cubicBezTo>
                <a:cubicBezTo>
                  <a:pt x="1069118" y="1173867"/>
                  <a:pt x="1018635" y="1353890"/>
                  <a:pt x="897668" y="1439615"/>
                </a:cubicBezTo>
                <a:cubicBezTo>
                  <a:pt x="776700" y="1525340"/>
                  <a:pt x="587153" y="1515815"/>
                  <a:pt x="429038" y="1446282"/>
                </a:cubicBezTo>
                <a:cubicBezTo>
                  <a:pt x="270923" y="1375797"/>
                  <a:pt x="146145" y="1246257"/>
                  <a:pt x="74708" y="1096715"/>
                </a:cubicBezTo>
                <a:cubicBezTo>
                  <a:pt x="4223" y="948125"/>
                  <a:pt x="-11017" y="780485"/>
                  <a:pt x="7080" y="609035"/>
                </a:cubicBezTo>
                <a:cubicBezTo>
                  <a:pt x="25178" y="436632"/>
                  <a:pt x="77565" y="261372"/>
                  <a:pt x="194723" y="152787"/>
                </a:cubicBezTo>
                <a:cubicBezTo>
                  <a:pt x="312833" y="44202"/>
                  <a:pt x="494760" y="3244"/>
                  <a:pt x="679545" y="387"/>
                </a:cubicBezTo>
                <a:cubicBezTo>
                  <a:pt x="865283" y="-3423"/>
                  <a:pt x="1052925" y="29915"/>
                  <a:pt x="1112933" y="148024"/>
                </a:cubicBezTo>
                <a:close/>
              </a:path>
            </a:pathLst>
          </a:custGeom>
          <a:solidFill>
            <a:srgbClr val="232F3E"/>
          </a:solidFill>
          <a:ln w="9525" cap="flat">
            <a:noFill/>
            <a:prstDash val="solid"/>
            <a:miter/>
          </a:ln>
        </p:spPr>
        <p:txBody>
          <a:bodyPr rtlCol="0" anchor="ctr"/>
          <a:lstStyle/>
          <a:p>
            <a:endParaRPr lang="en-IN"/>
          </a:p>
        </p:txBody>
      </p:sp>
      <p:sp>
        <p:nvSpPr>
          <p:cNvPr id="16" name="TextBox 15">
            <a:extLst>
              <a:ext uri="{FF2B5EF4-FFF2-40B4-BE49-F238E27FC236}">
                <a16:creationId xmlns:a16="http://schemas.microsoft.com/office/drawing/2014/main" id="{2CB3ADC1-25B4-BC80-E151-2F75561AC6BC}"/>
              </a:ext>
            </a:extLst>
          </p:cNvPr>
          <p:cNvSpPr txBox="1"/>
          <p:nvPr/>
        </p:nvSpPr>
        <p:spPr>
          <a:xfrm>
            <a:off x="6810881" y="1435506"/>
            <a:ext cx="5326932" cy="1993494"/>
          </a:xfrm>
          <a:prstGeom prst="rect">
            <a:avLst/>
          </a:prstGeom>
          <a:noFill/>
        </p:spPr>
        <p:txBody>
          <a:bodyPr wrap="square" rtlCol="0">
            <a:spAutoFit/>
          </a:bodyPr>
          <a:lstStyle/>
          <a:p>
            <a:pPr>
              <a:lnSpc>
                <a:spcPct val="130000"/>
              </a:lnSpc>
            </a:pPr>
            <a:r>
              <a:rPr lang="en-US" sz="1200" b="1" dirty="0"/>
              <a:t>Key Steps:</a:t>
            </a:r>
          </a:p>
          <a:p>
            <a:pPr marL="228600" indent="-228600">
              <a:lnSpc>
                <a:spcPct val="130000"/>
              </a:lnSpc>
              <a:buAutoNum type="arabicPeriod"/>
            </a:pPr>
            <a:r>
              <a:rPr lang="en-US" sz="1200" b="1" dirty="0"/>
              <a:t>Filtering data by category</a:t>
            </a:r>
            <a:r>
              <a:rPr lang="en-US" sz="1200" dirty="0"/>
              <a:t>: groups the data based on product categories.</a:t>
            </a:r>
          </a:p>
          <a:p>
            <a:pPr marL="228600" indent="-228600">
              <a:lnSpc>
                <a:spcPct val="130000"/>
              </a:lnSpc>
              <a:buAutoNum type="arabicPeriod"/>
            </a:pPr>
            <a:r>
              <a:rPr lang="en-US" sz="1200" b="1" dirty="0"/>
              <a:t>Selecting top and worst products</a:t>
            </a:r>
            <a:r>
              <a:rPr lang="en-US" sz="1200" dirty="0"/>
              <a:t>: identifies the top 3 products based on average sentiment and the worst product based on the lowest sentiment score.</a:t>
            </a:r>
            <a:endParaRPr lang="en-US" sz="1200" b="1" dirty="0"/>
          </a:p>
          <a:p>
            <a:pPr marL="228600" indent="-228600">
              <a:lnSpc>
                <a:spcPct val="130000"/>
              </a:lnSpc>
              <a:buAutoNum type="arabicPeriod"/>
            </a:pPr>
            <a:r>
              <a:rPr lang="en-US" sz="1200" b="1" dirty="0"/>
              <a:t>Summarizing reviews</a:t>
            </a:r>
            <a:r>
              <a:rPr lang="en-US" sz="1200" dirty="0"/>
              <a:t>: gathers and summarizes reviews for each product using the BART model from Hugging Face.</a:t>
            </a:r>
          </a:p>
          <a:p>
            <a:pPr marL="228600" indent="-228600">
              <a:lnSpc>
                <a:spcPct val="130000"/>
              </a:lnSpc>
              <a:buAutoNum type="arabicPeriod"/>
            </a:pPr>
            <a:r>
              <a:rPr lang="en-US" sz="1200" b="1" dirty="0"/>
              <a:t>Generating articles</a:t>
            </a:r>
            <a:r>
              <a:rPr lang="en-US" sz="1200" dirty="0"/>
              <a:t>: creates an article for each category, listing the top products, their reviews, and the worst product with reasons to avoid it.</a:t>
            </a:r>
            <a:endParaRPr lang="en-US" sz="1200" b="1" dirty="0"/>
          </a:p>
        </p:txBody>
      </p:sp>
      <p:pic>
        <p:nvPicPr>
          <p:cNvPr id="19" name="Picture 18">
            <a:extLst>
              <a:ext uri="{FF2B5EF4-FFF2-40B4-BE49-F238E27FC236}">
                <a16:creationId xmlns:a16="http://schemas.microsoft.com/office/drawing/2014/main" id="{335507DA-C932-3A72-118C-1573FE14CAEC}"/>
              </a:ext>
            </a:extLst>
          </p:cNvPr>
          <p:cNvPicPr>
            <a:picLocks noChangeAspect="1"/>
          </p:cNvPicPr>
          <p:nvPr/>
        </p:nvPicPr>
        <p:blipFill>
          <a:blip r:embed="rId2"/>
          <a:stretch>
            <a:fillRect/>
          </a:stretch>
        </p:blipFill>
        <p:spPr>
          <a:xfrm>
            <a:off x="1910156" y="4131812"/>
            <a:ext cx="8687939" cy="2309508"/>
          </a:xfrm>
          <a:prstGeom prst="rect">
            <a:avLst/>
          </a:prstGeom>
          <a:ln w="12700">
            <a:solidFill>
              <a:srgbClr val="FF9900"/>
            </a:solidFill>
          </a:ln>
        </p:spPr>
      </p:pic>
    </p:spTree>
    <p:extLst>
      <p:ext uri="{BB962C8B-B14F-4D97-AF65-F5344CB8AC3E}">
        <p14:creationId xmlns:p14="http://schemas.microsoft.com/office/powerpoint/2010/main" val="27445313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3C85C3-659B-0688-ED53-F5A132AA3F6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8D99CA7E-FAF7-621A-A444-0033E8104573}"/>
              </a:ext>
            </a:extLst>
          </p:cNvPr>
          <p:cNvSpPr txBox="1"/>
          <p:nvPr/>
        </p:nvSpPr>
        <p:spPr>
          <a:xfrm>
            <a:off x="1453079" y="498798"/>
            <a:ext cx="3393878" cy="769441"/>
          </a:xfrm>
          <a:prstGeom prst="rect">
            <a:avLst/>
          </a:prstGeom>
          <a:noFill/>
        </p:spPr>
        <p:txBody>
          <a:bodyPr wrap="none" rtlCol="0">
            <a:spAutoFit/>
          </a:bodyPr>
          <a:lstStyle/>
          <a:p>
            <a:r>
              <a:rPr lang="en-US" sz="4400" b="1" dirty="0">
                <a:solidFill>
                  <a:srgbClr val="000000"/>
                </a:solidFill>
                <a:latin typeface="Inter" panose="020B0604020202020204" charset="0"/>
              </a:rPr>
              <a:t>S</a:t>
            </a:r>
            <a:r>
              <a:rPr lang="en-US" sz="4400" b="1" i="0" dirty="0">
                <a:solidFill>
                  <a:srgbClr val="000000"/>
                </a:solidFill>
                <a:effectLst/>
                <a:latin typeface="Inter" panose="020B0604020202020204" charset="0"/>
              </a:rPr>
              <a:t>ummarize</a:t>
            </a:r>
            <a:endParaRPr lang="en-IN" sz="3600" dirty="0">
              <a:latin typeface="Fira Sans Medium" panose="020B0603050000020004" pitchFamily="34" charset="0"/>
            </a:endParaRPr>
          </a:p>
        </p:txBody>
      </p:sp>
      <p:sp>
        <p:nvSpPr>
          <p:cNvPr id="17" name="Graphic 4">
            <a:extLst>
              <a:ext uri="{FF2B5EF4-FFF2-40B4-BE49-F238E27FC236}">
                <a16:creationId xmlns:a16="http://schemas.microsoft.com/office/drawing/2014/main" id="{69B47C73-B90A-46FF-280D-3E6551EDB25D}"/>
              </a:ext>
            </a:extLst>
          </p:cNvPr>
          <p:cNvSpPr/>
          <p:nvPr/>
        </p:nvSpPr>
        <p:spPr>
          <a:xfrm rot="2476041">
            <a:off x="-269976" y="-648288"/>
            <a:ext cx="1251936" cy="2210578"/>
          </a:xfrm>
          <a:custGeom>
            <a:avLst/>
            <a:gdLst>
              <a:gd name="connsiteX0" fmla="*/ 1112933 w 1137091"/>
              <a:gd name="connsiteY0" fmla="*/ 148024 h 1501074"/>
              <a:gd name="connsiteX1" fmla="*/ 1084358 w 1137091"/>
              <a:gd name="connsiteY1" fmla="*/ 625227 h 1501074"/>
              <a:gd name="connsiteX2" fmla="*/ 1081500 w 1137091"/>
              <a:gd name="connsiteY2" fmla="*/ 1030039 h 1501074"/>
              <a:gd name="connsiteX3" fmla="*/ 897668 w 1137091"/>
              <a:gd name="connsiteY3" fmla="*/ 1439615 h 1501074"/>
              <a:gd name="connsiteX4" fmla="*/ 429038 w 1137091"/>
              <a:gd name="connsiteY4" fmla="*/ 1446282 h 1501074"/>
              <a:gd name="connsiteX5" fmla="*/ 74708 w 1137091"/>
              <a:gd name="connsiteY5" fmla="*/ 1096715 h 1501074"/>
              <a:gd name="connsiteX6" fmla="*/ 7080 w 1137091"/>
              <a:gd name="connsiteY6" fmla="*/ 609035 h 1501074"/>
              <a:gd name="connsiteX7" fmla="*/ 194723 w 1137091"/>
              <a:gd name="connsiteY7" fmla="*/ 152787 h 1501074"/>
              <a:gd name="connsiteX8" fmla="*/ 679545 w 1137091"/>
              <a:gd name="connsiteY8" fmla="*/ 387 h 1501074"/>
              <a:gd name="connsiteX9" fmla="*/ 1112933 w 1137091"/>
              <a:gd name="connsiteY9" fmla="*/ 148024 h 1501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37091" h="1501074">
                <a:moveTo>
                  <a:pt x="1112933" y="148024"/>
                </a:moveTo>
                <a:cubicBezTo>
                  <a:pt x="1172940" y="267087"/>
                  <a:pt x="1105313" y="469969"/>
                  <a:pt x="1084358" y="625227"/>
                </a:cubicBezTo>
                <a:cubicBezTo>
                  <a:pt x="1064355" y="779532"/>
                  <a:pt x="1092930" y="886212"/>
                  <a:pt x="1081500" y="1030039"/>
                </a:cubicBezTo>
                <a:cubicBezTo>
                  <a:pt x="1069118" y="1173867"/>
                  <a:pt x="1018635" y="1353890"/>
                  <a:pt x="897668" y="1439615"/>
                </a:cubicBezTo>
                <a:cubicBezTo>
                  <a:pt x="776700" y="1525340"/>
                  <a:pt x="587153" y="1515815"/>
                  <a:pt x="429038" y="1446282"/>
                </a:cubicBezTo>
                <a:cubicBezTo>
                  <a:pt x="270923" y="1375797"/>
                  <a:pt x="146145" y="1246257"/>
                  <a:pt x="74708" y="1096715"/>
                </a:cubicBezTo>
                <a:cubicBezTo>
                  <a:pt x="4223" y="948125"/>
                  <a:pt x="-11017" y="780485"/>
                  <a:pt x="7080" y="609035"/>
                </a:cubicBezTo>
                <a:cubicBezTo>
                  <a:pt x="25178" y="436632"/>
                  <a:pt x="77565" y="261372"/>
                  <a:pt x="194723" y="152787"/>
                </a:cubicBezTo>
                <a:cubicBezTo>
                  <a:pt x="312833" y="44202"/>
                  <a:pt x="494760" y="3244"/>
                  <a:pt x="679545" y="387"/>
                </a:cubicBezTo>
                <a:cubicBezTo>
                  <a:pt x="865283" y="-3423"/>
                  <a:pt x="1052925" y="29915"/>
                  <a:pt x="1112933" y="148024"/>
                </a:cubicBezTo>
                <a:close/>
              </a:path>
            </a:pathLst>
          </a:custGeom>
          <a:solidFill>
            <a:srgbClr val="131921"/>
          </a:solidFill>
          <a:ln w="9525" cap="flat">
            <a:noFill/>
            <a:prstDash val="solid"/>
            <a:miter/>
          </a:ln>
        </p:spPr>
        <p:txBody>
          <a:bodyPr rtlCol="0" anchor="ctr"/>
          <a:lstStyle/>
          <a:p>
            <a:endParaRPr lang="en-IN" dirty="0"/>
          </a:p>
        </p:txBody>
      </p:sp>
      <p:sp>
        <p:nvSpPr>
          <p:cNvPr id="18" name="Graphic 4">
            <a:extLst>
              <a:ext uri="{FF2B5EF4-FFF2-40B4-BE49-F238E27FC236}">
                <a16:creationId xmlns:a16="http://schemas.microsoft.com/office/drawing/2014/main" id="{433C1EF1-19C8-3639-8A61-8FB29CA2A436}"/>
              </a:ext>
            </a:extLst>
          </p:cNvPr>
          <p:cNvSpPr/>
          <p:nvPr/>
        </p:nvSpPr>
        <p:spPr>
          <a:xfrm rot="15002268" flipH="1">
            <a:off x="31601" y="-1336044"/>
            <a:ext cx="1251936" cy="2210578"/>
          </a:xfrm>
          <a:custGeom>
            <a:avLst/>
            <a:gdLst>
              <a:gd name="connsiteX0" fmla="*/ 1112933 w 1137091"/>
              <a:gd name="connsiteY0" fmla="*/ 148024 h 1501074"/>
              <a:gd name="connsiteX1" fmla="*/ 1084358 w 1137091"/>
              <a:gd name="connsiteY1" fmla="*/ 625227 h 1501074"/>
              <a:gd name="connsiteX2" fmla="*/ 1081500 w 1137091"/>
              <a:gd name="connsiteY2" fmla="*/ 1030039 h 1501074"/>
              <a:gd name="connsiteX3" fmla="*/ 897668 w 1137091"/>
              <a:gd name="connsiteY3" fmla="*/ 1439615 h 1501074"/>
              <a:gd name="connsiteX4" fmla="*/ 429038 w 1137091"/>
              <a:gd name="connsiteY4" fmla="*/ 1446282 h 1501074"/>
              <a:gd name="connsiteX5" fmla="*/ 74708 w 1137091"/>
              <a:gd name="connsiteY5" fmla="*/ 1096715 h 1501074"/>
              <a:gd name="connsiteX6" fmla="*/ 7080 w 1137091"/>
              <a:gd name="connsiteY6" fmla="*/ 609035 h 1501074"/>
              <a:gd name="connsiteX7" fmla="*/ 194723 w 1137091"/>
              <a:gd name="connsiteY7" fmla="*/ 152787 h 1501074"/>
              <a:gd name="connsiteX8" fmla="*/ 679545 w 1137091"/>
              <a:gd name="connsiteY8" fmla="*/ 387 h 1501074"/>
              <a:gd name="connsiteX9" fmla="*/ 1112933 w 1137091"/>
              <a:gd name="connsiteY9" fmla="*/ 148024 h 1501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37091" h="1501074">
                <a:moveTo>
                  <a:pt x="1112933" y="148024"/>
                </a:moveTo>
                <a:cubicBezTo>
                  <a:pt x="1172940" y="267087"/>
                  <a:pt x="1105313" y="469969"/>
                  <a:pt x="1084358" y="625227"/>
                </a:cubicBezTo>
                <a:cubicBezTo>
                  <a:pt x="1064355" y="779532"/>
                  <a:pt x="1092930" y="886212"/>
                  <a:pt x="1081500" y="1030039"/>
                </a:cubicBezTo>
                <a:cubicBezTo>
                  <a:pt x="1069118" y="1173867"/>
                  <a:pt x="1018635" y="1353890"/>
                  <a:pt x="897668" y="1439615"/>
                </a:cubicBezTo>
                <a:cubicBezTo>
                  <a:pt x="776700" y="1525340"/>
                  <a:pt x="587153" y="1515815"/>
                  <a:pt x="429038" y="1446282"/>
                </a:cubicBezTo>
                <a:cubicBezTo>
                  <a:pt x="270923" y="1375797"/>
                  <a:pt x="146145" y="1246257"/>
                  <a:pt x="74708" y="1096715"/>
                </a:cubicBezTo>
                <a:cubicBezTo>
                  <a:pt x="4223" y="948125"/>
                  <a:pt x="-11017" y="780485"/>
                  <a:pt x="7080" y="609035"/>
                </a:cubicBezTo>
                <a:cubicBezTo>
                  <a:pt x="25178" y="436632"/>
                  <a:pt x="77565" y="261372"/>
                  <a:pt x="194723" y="152787"/>
                </a:cubicBezTo>
                <a:cubicBezTo>
                  <a:pt x="312833" y="44202"/>
                  <a:pt x="494760" y="3244"/>
                  <a:pt x="679545" y="387"/>
                </a:cubicBezTo>
                <a:cubicBezTo>
                  <a:pt x="865283" y="-3423"/>
                  <a:pt x="1052925" y="29915"/>
                  <a:pt x="1112933" y="148024"/>
                </a:cubicBezTo>
                <a:close/>
              </a:path>
            </a:pathLst>
          </a:custGeom>
          <a:solidFill>
            <a:srgbClr val="232F3E"/>
          </a:solidFill>
          <a:ln w="9525" cap="flat">
            <a:noFill/>
            <a:prstDash val="solid"/>
            <a:miter/>
          </a:ln>
        </p:spPr>
        <p:txBody>
          <a:bodyPr rtlCol="0" anchor="ctr"/>
          <a:lstStyle/>
          <a:p>
            <a:endParaRPr lang="en-IN"/>
          </a:p>
        </p:txBody>
      </p:sp>
      <p:pic>
        <p:nvPicPr>
          <p:cNvPr id="10" name="Picture 9">
            <a:extLst>
              <a:ext uri="{FF2B5EF4-FFF2-40B4-BE49-F238E27FC236}">
                <a16:creationId xmlns:a16="http://schemas.microsoft.com/office/drawing/2014/main" id="{E9A3641B-9CFA-BC80-48DE-0932B3192FE7}"/>
              </a:ext>
            </a:extLst>
          </p:cNvPr>
          <p:cNvPicPr>
            <a:picLocks noChangeAspect="1"/>
          </p:cNvPicPr>
          <p:nvPr/>
        </p:nvPicPr>
        <p:blipFill>
          <a:blip r:embed="rId2"/>
          <a:stretch>
            <a:fillRect/>
          </a:stretch>
        </p:blipFill>
        <p:spPr>
          <a:xfrm>
            <a:off x="1521359" y="4192695"/>
            <a:ext cx="9149282" cy="1882870"/>
          </a:xfrm>
          <a:prstGeom prst="rect">
            <a:avLst/>
          </a:prstGeom>
          <a:ln w="12700">
            <a:solidFill>
              <a:srgbClr val="FF9900"/>
            </a:solidFill>
          </a:ln>
        </p:spPr>
      </p:pic>
      <p:sp>
        <p:nvSpPr>
          <p:cNvPr id="8" name="TextBox 7">
            <a:extLst>
              <a:ext uri="{FF2B5EF4-FFF2-40B4-BE49-F238E27FC236}">
                <a16:creationId xmlns:a16="http://schemas.microsoft.com/office/drawing/2014/main" id="{F76D26F6-7306-8F5D-B6EC-24506D05FF6D}"/>
              </a:ext>
            </a:extLst>
          </p:cNvPr>
          <p:cNvSpPr txBox="1"/>
          <p:nvPr/>
        </p:nvSpPr>
        <p:spPr>
          <a:xfrm>
            <a:off x="8080123" y="1675571"/>
            <a:ext cx="5326932" cy="1753429"/>
          </a:xfrm>
          <a:prstGeom prst="rect">
            <a:avLst/>
          </a:prstGeom>
          <a:noFill/>
        </p:spPr>
        <p:txBody>
          <a:bodyPr wrap="square" rtlCol="0">
            <a:spAutoFit/>
          </a:bodyPr>
          <a:lstStyle/>
          <a:p>
            <a:pPr>
              <a:lnSpc>
                <a:spcPct val="130000"/>
              </a:lnSpc>
            </a:pPr>
            <a:r>
              <a:rPr lang="en-US" sz="1200" b="1" dirty="0"/>
              <a:t>Key Steps:</a:t>
            </a:r>
          </a:p>
          <a:p>
            <a:pPr marL="228600" indent="-228600">
              <a:lnSpc>
                <a:spcPct val="130000"/>
              </a:lnSpc>
              <a:buAutoNum type="arabicPeriod"/>
            </a:pPr>
            <a:r>
              <a:rPr lang="en-US" sz="1200" dirty="0"/>
              <a:t>Load product reviews.</a:t>
            </a:r>
          </a:p>
          <a:p>
            <a:pPr marL="228600" indent="-228600">
              <a:lnSpc>
                <a:spcPct val="130000"/>
              </a:lnSpc>
              <a:buAutoNum type="arabicPeriod"/>
            </a:pPr>
            <a:r>
              <a:rPr lang="en-US" sz="1200" dirty="0"/>
              <a:t>Find top 3 and worst product per category.</a:t>
            </a:r>
            <a:endParaRPr lang="en-US" sz="1200" b="1" dirty="0"/>
          </a:p>
          <a:p>
            <a:pPr marL="228600" indent="-228600">
              <a:lnSpc>
                <a:spcPct val="130000"/>
              </a:lnSpc>
              <a:buAutoNum type="arabicPeriod"/>
            </a:pPr>
            <a:r>
              <a:rPr lang="en-US" sz="1200" dirty="0"/>
              <a:t>Collect sample reviews.</a:t>
            </a:r>
          </a:p>
          <a:p>
            <a:pPr marL="228600" indent="-228600">
              <a:lnSpc>
                <a:spcPct val="130000"/>
              </a:lnSpc>
              <a:buAutoNum type="arabicPeriod"/>
            </a:pPr>
            <a:r>
              <a:rPr lang="en-US" sz="1200" dirty="0"/>
              <a:t>Create a prompt with product info.</a:t>
            </a:r>
          </a:p>
          <a:p>
            <a:pPr marL="228600" indent="-228600">
              <a:lnSpc>
                <a:spcPct val="130000"/>
              </a:lnSpc>
              <a:buAutoNum type="arabicPeriod"/>
            </a:pPr>
            <a:r>
              <a:rPr lang="en-US" sz="1200" dirty="0"/>
              <a:t>Send it to GPT-3.5-Turbo.</a:t>
            </a:r>
          </a:p>
          <a:p>
            <a:pPr marL="228600" indent="-228600">
              <a:lnSpc>
                <a:spcPct val="130000"/>
              </a:lnSpc>
              <a:buAutoNum type="arabicPeriod"/>
            </a:pPr>
            <a:r>
              <a:rPr lang="en-US" sz="1200" dirty="0"/>
              <a:t>Get and save the article summary.</a:t>
            </a:r>
          </a:p>
        </p:txBody>
      </p:sp>
      <p:sp>
        <p:nvSpPr>
          <p:cNvPr id="11" name="TextBox 10">
            <a:extLst>
              <a:ext uri="{FF2B5EF4-FFF2-40B4-BE49-F238E27FC236}">
                <a16:creationId xmlns:a16="http://schemas.microsoft.com/office/drawing/2014/main" id="{75A27653-B04E-E020-9C1A-68FFCEA89B4C}"/>
              </a:ext>
            </a:extLst>
          </p:cNvPr>
          <p:cNvSpPr txBox="1"/>
          <p:nvPr/>
        </p:nvSpPr>
        <p:spPr>
          <a:xfrm>
            <a:off x="1669825" y="1844004"/>
            <a:ext cx="4784969" cy="1200329"/>
          </a:xfrm>
          <a:prstGeom prst="rect">
            <a:avLst/>
          </a:prstGeom>
          <a:noFill/>
        </p:spPr>
        <p:txBody>
          <a:bodyPr wrap="square" rtlCol="0">
            <a:spAutoFit/>
          </a:bodyPr>
          <a:lstStyle/>
          <a:p>
            <a:pPr>
              <a:buNone/>
            </a:pPr>
            <a:r>
              <a:rPr lang="en-US" sz="1200" b="1" dirty="0"/>
              <a:t>GPT-3.5-Turbo</a:t>
            </a:r>
            <a:r>
              <a:rPr lang="en-US" sz="1200" dirty="0"/>
              <a:t> is an advanced AI language model by OpenAI.</a:t>
            </a:r>
            <a:br>
              <a:rPr lang="en-US" sz="1200" dirty="0"/>
            </a:br>
            <a:r>
              <a:rPr lang="en-US" sz="1200" dirty="0"/>
              <a:t>It generates human-like text based on user input.</a:t>
            </a:r>
            <a:br>
              <a:rPr lang="en-US" sz="1200" dirty="0"/>
            </a:br>
            <a:r>
              <a:rPr lang="en-US" sz="1200" dirty="0"/>
              <a:t>It’s used for summarization, writing, answering questions, and analyzing text.</a:t>
            </a:r>
            <a:br>
              <a:rPr lang="en-US" sz="1200" dirty="0"/>
            </a:br>
            <a:r>
              <a:rPr lang="en-US" sz="1200" dirty="0"/>
              <a:t>Fast, accurate, and more affordable than GPT-4, making it ideal for chatbots, content creation, and smart assistants.</a:t>
            </a:r>
          </a:p>
        </p:txBody>
      </p:sp>
    </p:spTree>
    <p:extLst>
      <p:ext uri="{BB962C8B-B14F-4D97-AF65-F5344CB8AC3E}">
        <p14:creationId xmlns:p14="http://schemas.microsoft.com/office/powerpoint/2010/main" val="35777370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EDEC9A9-83A4-492B-8857-BCE4CD1EFD7C}"/>
              </a:ext>
            </a:extLst>
          </p:cNvPr>
          <p:cNvSpPr txBox="1"/>
          <p:nvPr/>
        </p:nvSpPr>
        <p:spPr>
          <a:xfrm>
            <a:off x="584593" y="2853765"/>
            <a:ext cx="3330572" cy="1393843"/>
          </a:xfrm>
          <a:prstGeom prst="rect">
            <a:avLst/>
          </a:prstGeom>
          <a:noFill/>
        </p:spPr>
        <p:txBody>
          <a:bodyPr wrap="square" rtlCol="0">
            <a:spAutoFit/>
          </a:bodyPr>
          <a:lstStyle/>
          <a:p>
            <a:pPr>
              <a:lnSpc>
                <a:spcPct val="130000"/>
              </a:lnSpc>
            </a:pPr>
            <a:r>
              <a:rPr lang="en-US" sz="1100" dirty="0"/>
              <a:t>occurs when the model exceeds the available memory (GPU/TPU/CPU). It’s common with large batch sizes or long sequence lengths, especially with models like BERT. This happens when the memory consumption, particularly in the </a:t>
            </a:r>
            <a:r>
              <a:rPr lang="en-US" sz="1100" b="1" dirty="0"/>
              <a:t>Attention layers</a:t>
            </a:r>
            <a:r>
              <a:rPr lang="en-US" sz="1100" dirty="0"/>
              <a:t> of the Transformer, is too high. It’s the same </a:t>
            </a:r>
            <a:r>
              <a:rPr lang="en-US" sz="1100" b="1" dirty="0"/>
              <a:t>Out of Memory (OOM)</a:t>
            </a:r>
            <a:endParaRPr lang="en-IN" sz="1100" dirty="0">
              <a:solidFill>
                <a:schemeClr val="bg2">
                  <a:lumMod val="25000"/>
                </a:schemeClr>
              </a:solidFill>
              <a:latin typeface="Roboto" panose="02000000000000000000" pitchFamily="2"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23C27CF5-DC2C-46C4-94ED-F2210F53FC59}"/>
              </a:ext>
            </a:extLst>
          </p:cNvPr>
          <p:cNvSpPr txBox="1"/>
          <p:nvPr/>
        </p:nvSpPr>
        <p:spPr>
          <a:xfrm>
            <a:off x="615747" y="2363665"/>
            <a:ext cx="2386487" cy="307777"/>
          </a:xfrm>
          <a:prstGeom prst="rect">
            <a:avLst/>
          </a:prstGeom>
          <a:noFill/>
        </p:spPr>
        <p:txBody>
          <a:bodyPr wrap="none" rtlCol="0">
            <a:spAutoFit/>
          </a:bodyPr>
          <a:lstStyle/>
          <a:p>
            <a:r>
              <a:rPr lang="en-US" sz="1400" b="1" dirty="0" err="1">
                <a:latin typeface="Inter" panose="020B0604020202020204" charset="0"/>
                <a:ea typeface="Inter" panose="020B0604020202020204" charset="0"/>
                <a:cs typeface="Inter" panose="020B0604020202020204" charset="0"/>
              </a:rPr>
              <a:t>ResourceExhaustedError</a:t>
            </a:r>
            <a:endParaRPr lang="en-IN" sz="1100" b="1" dirty="0">
              <a:latin typeface="Inter" panose="020B0604020202020204" charset="0"/>
              <a:ea typeface="Inter" panose="020B0604020202020204" charset="0"/>
              <a:cs typeface="Inter" panose="020B0604020202020204" charset="0"/>
            </a:endParaRPr>
          </a:p>
        </p:txBody>
      </p:sp>
      <p:sp>
        <p:nvSpPr>
          <p:cNvPr id="13" name="TextBox 12">
            <a:extLst>
              <a:ext uri="{FF2B5EF4-FFF2-40B4-BE49-F238E27FC236}">
                <a16:creationId xmlns:a16="http://schemas.microsoft.com/office/drawing/2014/main" id="{EF6AC5B0-CB30-4E6E-8B66-9A43E1DA9925}"/>
              </a:ext>
            </a:extLst>
          </p:cNvPr>
          <p:cNvSpPr txBox="1"/>
          <p:nvPr/>
        </p:nvSpPr>
        <p:spPr>
          <a:xfrm>
            <a:off x="4937959" y="2792603"/>
            <a:ext cx="3330572" cy="1173783"/>
          </a:xfrm>
          <a:prstGeom prst="rect">
            <a:avLst/>
          </a:prstGeom>
          <a:noFill/>
        </p:spPr>
        <p:txBody>
          <a:bodyPr wrap="square" rtlCol="0">
            <a:spAutoFit/>
          </a:bodyPr>
          <a:lstStyle/>
          <a:p>
            <a:pPr>
              <a:lnSpc>
                <a:spcPct val="130000"/>
              </a:lnSpc>
            </a:pPr>
            <a:r>
              <a:rPr lang="en-US" sz="1100" dirty="0"/>
              <a:t>occurs when some classes are underrepresented compared to others in dataset. This can cause the model to be biased toward the majority class and perform poorly on the minority class. Common issues include misleading accuracy and poor generalization.</a:t>
            </a:r>
            <a:endParaRPr lang="en-IN" sz="1100" dirty="0">
              <a:solidFill>
                <a:schemeClr val="bg2">
                  <a:lumMod val="25000"/>
                </a:schemeClr>
              </a:solidFill>
              <a:latin typeface="Roboto" panose="02000000000000000000" pitchFamily="2" charset="0"/>
              <a:ea typeface="Roboto" panose="02000000000000000000" pitchFamily="2" charset="0"/>
              <a:cs typeface="Roboto" panose="02000000000000000000" pitchFamily="2" charset="0"/>
            </a:endParaRPr>
          </a:p>
        </p:txBody>
      </p:sp>
      <p:sp>
        <p:nvSpPr>
          <p:cNvPr id="14" name="TextBox 13">
            <a:extLst>
              <a:ext uri="{FF2B5EF4-FFF2-40B4-BE49-F238E27FC236}">
                <a16:creationId xmlns:a16="http://schemas.microsoft.com/office/drawing/2014/main" id="{C57B0BDF-9FE4-49A2-839D-3C8F720848D5}"/>
              </a:ext>
            </a:extLst>
          </p:cNvPr>
          <p:cNvSpPr txBox="1"/>
          <p:nvPr/>
        </p:nvSpPr>
        <p:spPr>
          <a:xfrm>
            <a:off x="4945419" y="2363665"/>
            <a:ext cx="1657826" cy="307777"/>
          </a:xfrm>
          <a:prstGeom prst="rect">
            <a:avLst/>
          </a:prstGeom>
          <a:noFill/>
        </p:spPr>
        <p:txBody>
          <a:bodyPr wrap="none" rtlCol="0">
            <a:spAutoFit/>
          </a:bodyPr>
          <a:lstStyle/>
          <a:p>
            <a:r>
              <a:rPr lang="en-US" sz="1400" b="1" dirty="0">
                <a:latin typeface="Inter" panose="020B0604020202020204" charset="0"/>
                <a:ea typeface="Inter" panose="020B0604020202020204" charset="0"/>
                <a:cs typeface="Inter" panose="020B0604020202020204" charset="0"/>
              </a:rPr>
              <a:t>Imbalanced Data</a:t>
            </a:r>
            <a:endParaRPr lang="en-IN" sz="1100" dirty="0">
              <a:latin typeface="Inter" panose="020B0604020202020204" charset="0"/>
              <a:ea typeface="Inter" panose="020B0604020202020204" charset="0"/>
              <a:cs typeface="Inter" panose="020B0604020202020204" charset="0"/>
            </a:endParaRPr>
          </a:p>
        </p:txBody>
      </p:sp>
      <p:sp>
        <p:nvSpPr>
          <p:cNvPr id="2" name="Freeform: Shape 1">
            <a:extLst>
              <a:ext uri="{FF2B5EF4-FFF2-40B4-BE49-F238E27FC236}">
                <a16:creationId xmlns:a16="http://schemas.microsoft.com/office/drawing/2014/main" id="{A48E5E13-86FE-4923-8C65-F03A91827BC2}"/>
              </a:ext>
            </a:extLst>
          </p:cNvPr>
          <p:cNvSpPr/>
          <p:nvPr/>
        </p:nvSpPr>
        <p:spPr>
          <a:xfrm rot="3043006">
            <a:off x="7749003" y="-1089505"/>
            <a:ext cx="5451701" cy="7886541"/>
          </a:xfrm>
          <a:custGeom>
            <a:avLst/>
            <a:gdLst>
              <a:gd name="connsiteX0" fmla="*/ 550 w 3991493"/>
              <a:gd name="connsiteY0" fmla="*/ 1642332 h 4835022"/>
              <a:gd name="connsiteX1" fmla="*/ 765521 w 3991493"/>
              <a:gd name="connsiteY1" fmla="*/ 580588 h 4835022"/>
              <a:gd name="connsiteX2" fmla="*/ 2083026 w 3991493"/>
              <a:gd name="connsiteY2" fmla="*/ 100048 h 4835022"/>
              <a:gd name="connsiteX3" fmla="*/ 2715245 w 3991493"/>
              <a:gd name="connsiteY3" fmla="*/ 1509749 h 4835022"/>
              <a:gd name="connsiteX4" fmla="*/ 2721227 w 3991493"/>
              <a:gd name="connsiteY4" fmla="*/ 1521384 h 4835022"/>
              <a:gd name="connsiteX5" fmla="*/ 3318393 w 3991493"/>
              <a:gd name="connsiteY5" fmla="*/ 1521384 h 4835022"/>
              <a:gd name="connsiteX6" fmla="*/ 3929986 w 3991493"/>
              <a:gd name="connsiteY6" fmla="*/ 1521384 h 4835022"/>
              <a:gd name="connsiteX7" fmla="*/ 3991493 w 3991493"/>
              <a:gd name="connsiteY7" fmla="*/ 1521384 h 4835022"/>
              <a:gd name="connsiteX8" fmla="*/ 3991493 w 3991493"/>
              <a:gd name="connsiteY8" fmla="*/ 4315384 h 4835022"/>
              <a:gd name="connsiteX9" fmla="*/ 3598980 w 3991493"/>
              <a:gd name="connsiteY9" fmla="*/ 4315384 h 4835022"/>
              <a:gd name="connsiteX10" fmla="*/ 3619976 w 3991493"/>
              <a:gd name="connsiteY10" fmla="*/ 4405771 h 4835022"/>
              <a:gd name="connsiteX11" fmla="*/ 3664689 w 3991493"/>
              <a:gd name="connsiteY11" fmla="*/ 4832151 h 4835022"/>
              <a:gd name="connsiteX12" fmla="*/ 2683777 w 3991493"/>
              <a:gd name="connsiteY12" fmla="*/ 3360765 h 4835022"/>
              <a:gd name="connsiteX13" fmla="*/ 1889482 w 3991493"/>
              <a:gd name="connsiteY13" fmla="*/ 2464207 h 4835022"/>
              <a:gd name="connsiteX14" fmla="*/ 81357 w 3991493"/>
              <a:gd name="connsiteY14" fmla="*/ 1843552 h 4835022"/>
              <a:gd name="connsiteX15" fmla="*/ 550 w 3991493"/>
              <a:gd name="connsiteY15" fmla="*/ 1642332 h 4835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991493" h="4835022">
                <a:moveTo>
                  <a:pt x="550" y="1642332"/>
                </a:moveTo>
                <a:cubicBezTo>
                  <a:pt x="-16569" y="1328474"/>
                  <a:pt x="368015" y="925398"/>
                  <a:pt x="765521" y="580588"/>
                </a:cubicBezTo>
                <a:cubicBezTo>
                  <a:pt x="1255823" y="160176"/>
                  <a:pt x="1760838" y="-174916"/>
                  <a:pt x="2083026" y="100048"/>
                </a:cubicBezTo>
                <a:cubicBezTo>
                  <a:pt x="2362548" y="345008"/>
                  <a:pt x="2499183" y="1057820"/>
                  <a:pt x="2715245" y="1509749"/>
                </a:cubicBezTo>
                <a:lnTo>
                  <a:pt x="2721227" y="1521384"/>
                </a:lnTo>
                <a:lnTo>
                  <a:pt x="3318393" y="1521384"/>
                </a:lnTo>
                <a:lnTo>
                  <a:pt x="3929986" y="1521384"/>
                </a:lnTo>
                <a:lnTo>
                  <a:pt x="3991493" y="1521384"/>
                </a:lnTo>
                <a:lnTo>
                  <a:pt x="3991493" y="4315384"/>
                </a:lnTo>
                <a:lnTo>
                  <a:pt x="3598980" y="4315384"/>
                </a:lnTo>
                <a:lnTo>
                  <a:pt x="3619976" y="4405771"/>
                </a:lnTo>
                <a:cubicBezTo>
                  <a:pt x="3673465" y="4641116"/>
                  <a:pt x="3702837" y="4809178"/>
                  <a:pt x="3664689" y="4832151"/>
                </a:cubicBezTo>
                <a:cubicBezTo>
                  <a:pt x="3559158" y="4894433"/>
                  <a:pt x="2974535" y="3928939"/>
                  <a:pt x="2683777" y="3360765"/>
                </a:cubicBezTo>
                <a:cubicBezTo>
                  <a:pt x="2393020" y="2792591"/>
                  <a:pt x="2399927" y="2620719"/>
                  <a:pt x="1889482" y="2464207"/>
                </a:cubicBezTo>
                <a:cubicBezTo>
                  <a:pt x="1380096" y="2311659"/>
                  <a:pt x="356095" y="2169487"/>
                  <a:pt x="81357" y="1843552"/>
                </a:cubicBezTo>
                <a:cubicBezTo>
                  <a:pt x="29844" y="1782438"/>
                  <a:pt x="4501" y="1714761"/>
                  <a:pt x="550" y="1642332"/>
                </a:cubicBezTo>
                <a:close/>
              </a:path>
            </a:pathLst>
          </a:custGeom>
          <a:solidFill>
            <a:srgbClr val="13192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4" name="Rectangle 3">
            <a:extLst>
              <a:ext uri="{FF2B5EF4-FFF2-40B4-BE49-F238E27FC236}">
                <a16:creationId xmlns:a16="http://schemas.microsoft.com/office/drawing/2014/main" id="{51695F52-4DFE-426F-A6E5-454B7D1E29FE}"/>
              </a:ext>
            </a:extLst>
          </p:cNvPr>
          <p:cNvSpPr/>
          <p:nvPr/>
        </p:nvSpPr>
        <p:spPr>
          <a:xfrm>
            <a:off x="9022212" y="6612573"/>
            <a:ext cx="3664190" cy="494271"/>
          </a:xfrm>
          <a:prstGeom prst="rect">
            <a:avLst/>
          </a:prstGeom>
          <a:solidFill>
            <a:srgbClr val="1319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358CF9FB-F5CA-4B59-A222-7F046A3ED07B}"/>
              </a:ext>
            </a:extLst>
          </p:cNvPr>
          <p:cNvSpPr/>
          <p:nvPr/>
        </p:nvSpPr>
        <p:spPr>
          <a:xfrm>
            <a:off x="9250566" y="6301516"/>
            <a:ext cx="3435836" cy="494271"/>
          </a:xfrm>
          <a:prstGeom prst="rect">
            <a:avLst/>
          </a:prstGeom>
          <a:solidFill>
            <a:srgbClr val="1319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CA8E8C83-9B3D-4B47-8C29-1713C483237F}"/>
              </a:ext>
            </a:extLst>
          </p:cNvPr>
          <p:cNvSpPr/>
          <p:nvPr/>
        </p:nvSpPr>
        <p:spPr>
          <a:xfrm>
            <a:off x="10176668" y="4579878"/>
            <a:ext cx="2421088" cy="1877168"/>
          </a:xfrm>
          <a:prstGeom prst="rect">
            <a:avLst/>
          </a:prstGeom>
          <a:solidFill>
            <a:srgbClr val="1319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8" name="Graphic 27">
            <a:extLst>
              <a:ext uri="{FF2B5EF4-FFF2-40B4-BE49-F238E27FC236}">
                <a16:creationId xmlns:a16="http://schemas.microsoft.com/office/drawing/2014/main" id="{ED0050DF-723B-4A1F-97B0-2DEE56B8795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452790" y="-322845"/>
            <a:ext cx="2302880" cy="7666161"/>
          </a:xfrm>
          <a:prstGeom prst="rect">
            <a:avLst/>
          </a:prstGeom>
        </p:spPr>
      </p:pic>
      <p:sp>
        <p:nvSpPr>
          <p:cNvPr id="20" name="TextBox 19">
            <a:extLst>
              <a:ext uri="{FF2B5EF4-FFF2-40B4-BE49-F238E27FC236}">
                <a16:creationId xmlns:a16="http://schemas.microsoft.com/office/drawing/2014/main" id="{C6C2E425-BB4B-45A0-A496-681679873C48}"/>
              </a:ext>
            </a:extLst>
          </p:cNvPr>
          <p:cNvSpPr txBox="1"/>
          <p:nvPr/>
        </p:nvSpPr>
        <p:spPr>
          <a:xfrm>
            <a:off x="584593" y="275962"/>
            <a:ext cx="4376519" cy="898900"/>
          </a:xfrm>
          <a:prstGeom prst="rect">
            <a:avLst/>
          </a:prstGeom>
          <a:noFill/>
        </p:spPr>
        <p:txBody>
          <a:bodyPr wrap="none" rtlCol="0">
            <a:spAutoFit/>
          </a:bodyPr>
          <a:lstStyle/>
          <a:p>
            <a:pPr>
              <a:lnSpc>
                <a:spcPct val="130000"/>
              </a:lnSpc>
            </a:pPr>
            <a:r>
              <a:rPr lang="en-US" sz="4400" b="1" i="0" dirty="0">
                <a:solidFill>
                  <a:srgbClr val="000000"/>
                </a:solidFill>
                <a:effectLst/>
                <a:latin typeface="Inter" panose="020B0604020202020204" charset="0"/>
              </a:rPr>
              <a:t>Major Obstacle</a:t>
            </a:r>
            <a:endParaRPr lang="en-IN" sz="4400" dirty="0">
              <a:latin typeface="Fira Sans Medium" panose="020B0603050000020004" pitchFamily="34" charset="0"/>
            </a:endParaRPr>
          </a:p>
        </p:txBody>
      </p:sp>
    </p:spTree>
    <p:extLst>
      <p:ext uri="{BB962C8B-B14F-4D97-AF65-F5344CB8AC3E}">
        <p14:creationId xmlns:p14="http://schemas.microsoft.com/office/powerpoint/2010/main" val="12471836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val 15">
            <a:extLst>
              <a:ext uri="{FF2B5EF4-FFF2-40B4-BE49-F238E27FC236}">
                <a16:creationId xmlns:a16="http://schemas.microsoft.com/office/drawing/2014/main" id="{59358E82-2085-4FDC-BB98-0AC776133192}"/>
              </a:ext>
            </a:extLst>
          </p:cNvPr>
          <p:cNvSpPr/>
          <p:nvPr/>
        </p:nvSpPr>
        <p:spPr>
          <a:xfrm>
            <a:off x="-266700" y="-2772011"/>
            <a:ext cx="12725400" cy="3910520"/>
          </a:xfrm>
          <a:prstGeom prst="ellipse">
            <a:avLst/>
          </a:prstGeom>
          <a:solidFill>
            <a:srgbClr val="1319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5" name="Group 14">
            <a:extLst>
              <a:ext uri="{FF2B5EF4-FFF2-40B4-BE49-F238E27FC236}">
                <a16:creationId xmlns:a16="http://schemas.microsoft.com/office/drawing/2014/main" id="{E01B0333-67C2-4114-8841-981615299F70}"/>
              </a:ext>
            </a:extLst>
          </p:cNvPr>
          <p:cNvGrpSpPr/>
          <p:nvPr/>
        </p:nvGrpSpPr>
        <p:grpSpPr>
          <a:xfrm>
            <a:off x="2829468" y="1086109"/>
            <a:ext cx="6533064" cy="774062"/>
            <a:chOff x="3087797" y="3552890"/>
            <a:chExt cx="4092403" cy="909228"/>
          </a:xfrm>
          <a:solidFill>
            <a:srgbClr val="FF9900"/>
          </a:solidFill>
        </p:grpSpPr>
        <p:sp>
          <p:nvSpPr>
            <p:cNvPr id="7" name="Freeform: Shape 6">
              <a:extLst>
                <a:ext uri="{FF2B5EF4-FFF2-40B4-BE49-F238E27FC236}">
                  <a16:creationId xmlns:a16="http://schemas.microsoft.com/office/drawing/2014/main" id="{CB3B074F-AF3B-45D4-9277-1CA1BB0C11C6}"/>
                </a:ext>
              </a:extLst>
            </p:cNvPr>
            <p:cNvSpPr/>
            <p:nvPr/>
          </p:nvSpPr>
          <p:spPr>
            <a:xfrm>
              <a:off x="3087797" y="3614440"/>
              <a:ext cx="3760826" cy="847678"/>
            </a:xfrm>
            <a:custGeom>
              <a:avLst/>
              <a:gdLst>
                <a:gd name="connsiteX0" fmla="*/ 4569032 w 4609853"/>
                <a:gd name="connsiteY0" fmla="*/ 413392 h 1039050"/>
                <a:gd name="connsiteX1" fmla="*/ 2522490 w 4609853"/>
                <a:gd name="connsiteY1" fmla="*/ 1039051 h 1039050"/>
                <a:gd name="connsiteX2" fmla="*/ 22339 w 4609853"/>
                <a:gd name="connsiteY2" fmla="*/ 85017 h 1039050"/>
                <a:gd name="connsiteX3" fmla="*/ 79146 w 4609853"/>
                <a:gd name="connsiteY3" fmla="*/ 10798 h 1039050"/>
                <a:gd name="connsiteX4" fmla="*/ 2580535 w 4609853"/>
                <a:gd name="connsiteY4" fmla="*/ 674186 h 1039050"/>
                <a:gd name="connsiteX5" fmla="*/ 4488602 w 4609853"/>
                <a:gd name="connsiteY5" fmla="*/ 284033 h 1039050"/>
                <a:gd name="connsiteX6" fmla="*/ 4569032 w 4609853"/>
                <a:gd name="connsiteY6" fmla="*/ 413392 h 103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09853" h="1039050">
                  <a:moveTo>
                    <a:pt x="4569032" y="413392"/>
                  </a:moveTo>
                  <a:cubicBezTo>
                    <a:pt x="4015524" y="821376"/>
                    <a:pt x="3213233" y="1039051"/>
                    <a:pt x="2522490" y="1039051"/>
                  </a:cubicBezTo>
                  <a:cubicBezTo>
                    <a:pt x="1553940" y="1039051"/>
                    <a:pt x="682003" y="680825"/>
                    <a:pt x="22339" y="85017"/>
                  </a:cubicBezTo>
                  <a:cubicBezTo>
                    <a:pt x="-29486" y="38164"/>
                    <a:pt x="16958" y="-25682"/>
                    <a:pt x="79146" y="10798"/>
                  </a:cubicBezTo>
                  <a:cubicBezTo>
                    <a:pt x="791045" y="425003"/>
                    <a:pt x="1671279" y="674186"/>
                    <a:pt x="2580535" y="674186"/>
                  </a:cubicBezTo>
                  <a:cubicBezTo>
                    <a:pt x="3193755" y="674186"/>
                    <a:pt x="3868334" y="547313"/>
                    <a:pt x="4488602" y="284033"/>
                  </a:cubicBezTo>
                  <a:cubicBezTo>
                    <a:pt x="4582300" y="244228"/>
                    <a:pt x="4660662" y="345393"/>
                    <a:pt x="4569032" y="413392"/>
                  </a:cubicBezTo>
                </a:path>
              </a:pathLst>
            </a:custGeom>
            <a:grpFill/>
            <a:ln w="9525" cap="flat">
              <a:noFill/>
              <a:prstDash val="solid"/>
              <a:miter/>
            </a:ln>
          </p:spPr>
          <p:txBody>
            <a:bodyPr rtlCol="0" anchor="ctr"/>
            <a:lstStyle/>
            <a:p>
              <a:endParaRPr lang="en-IN" dirty="0"/>
            </a:p>
          </p:txBody>
        </p:sp>
        <p:sp>
          <p:nvSpPr>
            <p:cNvPr id="8" name="Freeform: Shape 7">
              <a:extLst>
                <a:ext uri="{FF2B5EF4-FFF2-40B4-BE49-F238E27FC236}">
                  <a16:creationId xmlns:a16="http://schemas.microsoft.com/office/drawing/2014/main" id="{6ED209F1-7EAD-4F07-B776-7C23C809D52D}"/>
                </a:ext>
              </a:extLst>
            </p:cNvPr>
            <p:cNvSpPr/>
            <p:nvPr/>
          </p:nvSpPr>
          <p:spPr>
            <a:xfrm>
              <a:off x="6407164" y="3552890"/>
              <a:ext cx="773036" cy="761368"/>
            </a:xfrm>
            <a:custGeom>
              <a:avLst/>
              <a:gdLst>
                <a:gd name="connsiteX0" fmla="*/ 691963 w 947553"/>
                <a:gd name="connsiteY0" fmla="*/ 249669 h 933254"/>
                <a:gd name="connsiteX1" fmla="*/ 45996 w 947553"/>
                <a:gd name="connsiteY1" fmla="*/ 228114 h 933254"/>
                <a:gd name="connsiteX2" fmla="*/ 32309 w 947553"/>
                <a:gd name="connsiteY2" fmla="*/ 153476 h 933254"/>
                <a:gd name="connsiteX3" fmla="*/ 928297 w 947553"/>
                <a:gd name="connsiteY3" fmla="*/ 69723 h 933254"/>
                <a:gd name="connsiteX4" fmla="*/ 615258 w 947553"/>
                <a:gd name="connsiteY4" fmla="*/ 913476 h 933254"/>
                <a:gd name="connsiteX5" fmla="*/ 546430 w 947553"/>
                <a:gd name="connsiteY5" fmla="*/ 880719 h 933254"/>
                <a:gd name="connsiteX6" fmla="*/ 691963 w 947553"/>
                <a:gd name="connsiteY6" fmla="*/ 249669 h 933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47553" h="933254">
                  <a:moveTo>
                    <a:pt x="691963" y="249669"/>
                  </a:moveTo>
                  <a:cubicBezTo>
                    <a:pt x="621477" y="159286"/>
                    <a:pt x="224275" y="206968"/>
                    <a:pt x="45996" y="228114"/>
                  </a:cubicBezTo>
                  <a:cubicBezTo>
                    <a:pt x="-8325" y="234743"/>
                    <a:pt x="-16612" y="187480"/>
                    <a:pt x="32309" y="153476"/>
                  </a:cubicBezTo>
                  <a:cubicBezTo>
                    <a:pt x="348663" y="-69171"/>
                    <a:pt x="867765" y="-4906"/>
                    <a:pt x="928297" y="69723"/>
                  </a:cubicBezTo>
                  <a:cubicBezTo>
                    <a:pt x="988828" y="144770"/>
                    <a:pt x="912543" y="665111"/>
                    <a:pt x="615258" y="913476"/>
                  </a:cubicBezTo>
                  <a:cubicBezTo>
                    <a:pt x="569652" y="951614"/>
                    <a:pt x="526123" y="931297"/>
                    <a:pt x="546430" y="880719"/>
                  </a:cubicBezTo>
                  <a:cubicBezTo>
                    <a:pt x="613191" y="714041"/>
                    <a:pt x="762866" y="340471"/>
                    <a:pt x="691963" y="249669"/>
                  </a:cubicBezTo>
                </a:path>
              </a:pathLst>
            </a:custGeom>
            <a:grpFill/>
            <a:ln w="9525" cap="flat">
              <a:noFill/>
              <a:prstDash val="solid"/>
              <a:miter/>
            </a:ln>
          </p:spPr>
          <p:txBody>
            <a:bodyPr rtlCol="0" anchor="ctr"/>
            <a:lstStyle/>
            <a:p>
              <a:endParaRPr lang="en-IN" dirty="0"/>
            </a:p>
          </p:txBody>
        </p:sp>
      </p:grpSp>
      <p:sp>
        <p:nvSpPr>
          <p:cNvPr id="19" name="TextBox 18">
            <a:extLst>
              <a:ext uri="{FF2B5EF4-FFF2-40B4-BE49-F238E27FC236}">
                <a16:creationId xmlns:a16="http://schemas.microsoft.com/office/drawing/2014/main" id="{7DE41164-6F2F-46B8-9C09-9326C6B95B16}"/>
              </a:ext>
            </a:extLst>
          </p:cNvPr>
          <p:cNvSpPr txBox="1"/>
          <p:nvPr/>
        </p:nvSpPr>
        <p:spPr>
          <a:xfrm>
            <a:off x="5061042" y="1798271"/>
            <a:ext cx="2489176" cy="1087734"/>
          </a:xfrm>
          <a:prstGeom prst="rect">
            <a:avLst/>
          </a:prstGeom>
          <a:noFill/>
        </p:spPr>
        <p:txBody>
          <a:bodyPr wrap="square" rtlCol="0">
            <a:spAutoFit/>
          </a:bodyPr>
          <a:lstStyle/>
          <a:p>
            <a:pPr>
              <a:lnSpc>
                <a:spcPct val="130000"/>
              </a:lnSpc>
            </a:pPr>
            <a:r>
              <a:rPr lang="en-US" sz="2400" b="1" dirty="0">
                <a:solidFill>
                  <a:srgbClr val="000000"/>
                </a:solidFill>
                <a:latin typeface="Inter" panose="020B0604020202020204" charset="0"/>
              </a:rPr>
              <a:t>D</a:t>
            </a:r>
            <a:r>
              <a:rPr lang="en-US" sz="2400" b="1" i="0" dirty="0">
                <a:solidFill>
                  <a:srgbClr val="000000"/>
                </a:solidFill>
                <a:effectLst/>
                <a:latin typeface="Inter" panose="020B0604020202020204" charset="0"/>
              </a:rPr>
              <a:t>eployment</a:t>
            </a:r>
            <a:endParaRPr lang="en-IN" sz="2400" dirty="0">
              <a:latin typeface="Fira Sans Medium" panose="020B0603050000020004" pitchFamily="34" charset="0"/>
            </a:endParaRPr>
          </a:p>
          <a:p>
            <a:pPr algn="ctr">
              <a:lnSpc>
                <a:spcPct val="130000"/>
              </a:lnSpc>
            </a:pPr>
            <a:endParaRPr lang="en-IN" sz="2800" dirty="0">
              <a:latin typeface="Fira Sans Medium" panose="020B0603050000020004" pitchFamily="34" charset="0"/>
            </a:endParaRPr>
          </a:p>
        </p:txBody>
      </p:sp>
      <p:pic>
        <p:nvPicPr>
          <p:cNvPr id="3" name="Picture 2">
            <a:extLst>
              <a:ext uri="{FF2B5EF4-FFF2-40B4-BE49-F238E27FC236}">
                <a16:creationId xmlns:a16="http://schemas.microsoft.com/office/drawing/2014/main" id="{F05A34A8-92F8-D882-03E0-52DA07F1C3E2}"/>
              </a:ext>
            </a:extLst>
          </p:cNvPr>
          <p:cNvPicPr>
            <a:picLocks noChangeAspect="1"/>
          </p:cNvPicPr>
          <p:nvPr/>
        </p:nvPicPr>
        <p:blipFill>
          <a:blip r:embed="rId2"/>
          <a:stretch>
            <a:fillRect/>
          </a:stretch>
        </p:blipFill>
        <p:spPr>
          <a:xfrm>
            <a:off x="3932356" y="3009900"/>
            <a:ext cx="4327288" cy="3226688"/>
          </a:xfrm>
          <a:prstGeom prst="rect">
            <a:avLst/>
          </a:prstGeom>
          <a:ln>
            <a:solidFill>
              <a:srgbClr val="FF9900"/>
            </a:solidFill>
          </a:ln>
        </p:spPr>
      </p:pic>
    </p:spTree>
    <p:extLst>
      <p:ext uri="{BB962C8B-B14F-4D97-AF65-F5344CB8AC3E}">
        <p14:creationId xmlns:p14="http://schemas.microsoft.com/office/powerpoint/2010/main" val="4618452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Freeform: Shape 20">
            <a:extLst>
              <a:ext uri="{FF2B5EF4-FFF2-40B4-BE49-F238E27FC236}">
                <a16:creationId xmlns:a16="http://schemas.microsoft.com/office/drawing/2014/main" id="{F21FEF1F-3765-4DD6-BD6D-7D2DE9C59DF4}"/>
              </a:ext>
            </a:extLst>
          </p:cNvPr>
          <p:cNvSpPr/>
          <p:nvPr/>
        </p:nvSpPr>
        <p:spPr>
          <a:xfrm rot="5400000">
            <a:off x="9878829" y="3215937"/>
            <a:ext cx="3316690" cy="4835022"/>
          </a:xfrm>
          <a:custGeom>
            <a:avLst/>
            <a:gdLst>
              <a:gd name="connsiteX0" fmla="*/ 550 w 3991493"/>
              <a:gd name="connsiteY0" fmla="*/ 1642332 h 4835022"/>
              <a:gd name="connsiteX1" fmla="*/ 765521 w 3991493"/>
              <a:gd name="connsiteY1" fmla="*/ 580588 h 4835022"/>
              <a:gd name="connsiteX2" fmla="*/ 2083026 w 3991493"/>
              <a:gd name="connsiteY2" fmla="*/ 100048 h 4835022"/>
              <a:gd name="connsiteX3" fmla="*/ 2715245 w 3991493"/>
              <a:gd name="connsiteY3" fmla="*/ 1509749 h 4835022"/>
              <a:gd name="connsiteX4" fmla="*/ 2721227 w 3991493"/>
              <a:gd name="connsiteY4" fmla="*/ 1521384 h 4835022"/>
              <a:gd name="connsiteX5" fmla="*/ 3318393 w 3991493"/>
              <a:gd name="connsiteY5" fmla="*/ 1521384 h 4835022"/>
              <a:gd name="connsiteX6" fmla="*/ 3929986 w 3991493"/>
              <a:gd name="connsiteY6" fmla="*/ 1521384 h 4835022"/>
              <a:gd name="connsiteX7" fmla="*/ 3991493 w 3991493"/>
              <a:gd name="connsiteY7" fmla="*/ 1521384 h 4835022"/>
              <a:gd name="connsiteX8" fmla="*/ 3991493 w 3991493"/>
              <a:gd name="connsiteY8" fmla="*/ 4315384 h 4835022"/>
              <a:gd name="connsiteX9" fmla="*/ 3598980 w 3991493"/>
              <a:gd name="connsiteY9" fmla="*/ 4315384 h 4835022"/>
              <a:gd name="connsiteX10" fmla="*/ 3619976 w 3991493"/>
              <a:gd name="connsiteY10" fmla="*/ 4405771 h 4835022"/>
              <a:gd name="connsiteX11" fmla="*/ 3664689 w 3991493"/>
              <a:gd name="connsiteY11" fmla="*/ 4832151 h 4835022"/>
              <a:gd name="connsiteX12" fmla="*/ 2683777 w 3991493"/>
              <a:gd name="connsiteY12" fmla="*/ 3360765 h 4835022"/>
              <a:gd name="connsiteX13" fmla="*/ 1889482 w 3991493"/>
              <a:gd name="connsiteY13" fmla="*/ 2464207 h 4835022"/>
              <a:gd name="connsiteX14" fmla="*/ 81357 w 3991493"/>
              <a:gd name="connsiteY14" fmla="*/ 1843552 h 4835022"/>
              <a:gd name="connsiteX15" fmla="*/ 550 w 3991493"/>
              <a:gd name="connsiteY15" fmla="*/ 1642332 h 4835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991493" h="4835022">
                <a:moveTo>
                  <a:pt x="550" y="1642332"/>
                </a:moveTo>
                <a:cubicBezTo>
                  <a:pt x="-16569" y="1328474"/>
                  <a:pt x="368015" y="925398"/>
                  <a:pt x="765521" y="580588"/>
                </a:cubicBezTo>
                <a:cubicBezTo>
                  <a:pt x="1255823" y="160176"/>
                  <a:pt x="1760838" y="-174916"/>
                  <a:pt x="2083026" y="100048"/>
                </a:cubicBezTo>
                <a:cubicBezTo>
                  <a:pt x="2362548" y="345008"/>
                  <a:pt x="2499183" y="1057820"/>
                  <a:pt x="2715245" y="1509749"/>
                </a:cubicBezTo>
                <a:lnTo>
                  <a:pt x="2721227" y="1521384"/>
                </a:lnTo>
                <a:lnTo>
                  <a:pt x="3318393" y="1521384"/>
                </a:lnTo>
                <a:lnTo>
                  <a:pt x="3929986" y="1521384"/>
                </a:lnTo>
                <a:lnTo>
                  <a:pt x="3991493" y="1521384"/>
                </a:lnTo>
                <a:lnTo>
                  <a:pt x="3991493" y="4315384"/>
                </a:lnTo>
                <a:lnTo>
                  <a:pt x="3598980" y="4315384"/>
                </a:lnTo>
                <a:lnTo>
                  <a:pt x="3619976" y="4405771"/>
                </a:lnTo>
                <a:cubicBezTo>
                  <a:pt x="3673465" y="4641116"/>
                  <a:pt x="3702837" y="4809178"/>
                  <a:pt x="3664689" y="4832151"/>
                </a:cubicBezTo>
                <a:cubicBezTo>
                  <a:pt x="3559158" y="4894433"/>
                  <a:pt x="2974535" y="3928939"/>
                  <a:pt x="2683777" y="3360765"/>
                </a:cubicBezTo>
                <a:cubicBezTo>
                  <a:pt x="2393020" y="2792591"/>
                  <a:pt x="2399927" y="2620719"/>
                  <a:pt x="1889482" y="2464207"/>
                </a:cubicBezTo>
                <a:cubicBezTo>
                  <a:pt x="1380096" y="2311659"/>
                  <a:pt x="356095" y="2169487"/>
                  <a:pt x="81357" y="1843552"/>
                </a:cubicBezTo>
                <a:cubicBezTo>
                  <a:pt x="29844" y="1782438"/>
                  <a:pt x="4501" y="1714761"/>
                  <a:pt x="550" y="1642332"/>
                </a:cubicBezTo>
                <a:close/>
              </a:path>
            </a:pathLst>
          </a:custGeom>
          <a:solidFill>
            <a:srgbClr val="13192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24" name="TextBox 23">
            <a:extLst>
              <a:ext uri="{FF2B5EF4-FFF2-40B4-BE49-F238E27FC236}">
                <a16:creationId xmlns:a16="http://schemas.microsoft.com/office/drawing/2014/main" id="{CC9BD28D-55F8-486A-9F93-D3268DEDBC31}"/>
              </a:ext>
            </a:extLst>
          </p:cNvPr>
          <p:cNvSpPr txBox="1"/>
          <p:nvPr/>
        </p:nvSpPr>
        <p:spPr>
          <a:xfrm>
            <a:off x="4302411" y="2767280"/>
            <a:ext cx="3605475" cy="1323439"/>
          </a:xfrm>
          <a:prstGeom prst="rect">
            <a:avLst/>
          </a:prstGeom>
          <a:noFill/>
        </p:spPr>
        <p:txBody>
          <a:bodyPr wrap="none" rtlCol="0">
            <a:spAutoFit/>
          </a:bodyPr>
          <a:lstStyle/>
          <a:p>
            <a:pPr algn="ctr"/>
            <a:r>
              <a:rPr lang="en-IN" sz="8000" dirty="0">
                <a:latin typeface="Fira Sans Medium" panose="020B0603050000020004" pitchFamily="34" charset="0"/>
              </a:rPr>
              <a:t>thanks!</a:t>
            </a:r>
            <a:endParaRPr lang="en-IN" sz="6600" dirty="0">
              <a:latin typeface="Fira Sans Medium" panose="020B0603050000020004" pitchFamily="34" charset="0"/>
            </a:endParaRPr>
          </a:p>
        </p:txBody>
      </p:sp>
      <p:sp>
        <p:nvSpPr>
          <p:cNvPr id="15" name="Graphic 11">
            <a:extLst>
              <a:ext uri="{FF2B5EF4-FFF2-40B4-BE49-F238E27FC236}">
                <a16:creationId xmlns:a16="http://schemas.microsoft.com/office/drawing/2014/main" id="{30CDF02D-CAE1-425F-B0D5-8BB3AD1C0C50}"/>
              </a:ext>
            </a:extLst>
          </p:cNvPr>
          <p:cNvSpPr/>
          <p:nvPr/>
        </p:nvSpPr>
        <p:spPr>
          <a:xfrm>
            <a:off x="10747201" y="4961641"/>
            <a:ext cx="1444799" cy="1343613"/>
          </a:xfrm>
          <a:custGeom>
            <a:avLst/>
            <a:gdLst>
              <a:gd name="connsiteX0" fmla="*/ 1051454 w 1444799"/>
              <a:gd name="connsiteY0" fmla="*/ 206792 h 1343613"/>
              <a:gd name="connsiteX1" fmla="*/ 1253384 w 1444799"/>
              <a:gd name="connsiteY1" fmla="*/ 532548 h 1343613"/>
              <a:gd name="connsiteX2" fmla="*/ 1443884 w 1444799"/>
              <a:gd name="connsiteY2" fmla="*/ 904023 h 1343613"/>
              <a:gd name="connsiteX3" fmla="*/ 1145752 w 1444799"/>
              <a:gd name="connsiteY3" fmla="*/ 1165960 h 1343613"/>
              <a:gd name="connsiteX4" fmla="*/ 728556 w 1444799"/>
              <a:gd name="connsiteY4" fmla="*/ 1305025 h 1343613"/>
              <a:gd name="connsiteX5" fmla="*/ 267546 w 1444799"/>
              <a:gd name="connsiteY5" fmla="*/ 1305025 h 1343613"/>
              <a:gd name="connsiteX6" fmla="*/ 21801 w 1444799"/>
              <a:gd name="connsiteY6" fmla="*/ 912595 h 1343613"/>
              <a:gd name="connsiteX7" fmla="*/ 64664 w 1444799"/>
              <a:gd name="connsiteY7" fmla="*/ 463968 h 1343613"/>
              <a:gd name="connsiteX8" fmla="*/ 405659 w 1444799"/>
              <a:gd name="connsiteY8" fmla="*/ 187742 h 1343613"/>
              <a:gd name="connsiteX9" fmla="*/ 753321 w 1444799"/>
              <a:gd name="connsiteY9" fmla="*/ 100 h 1343613"/>
              <a:gd name="connsiteX10" fmla="*/ 1051454 w 1444799"/>
              <a:gd name="connsiteY10" fmla="*/ 206792 h 1343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44799" h="1343613">
                <a:moveTo>
                  <a:pt x="1051454" y="206792"/>
                </a:moveTo>
                <a:cubicBezTo>
                  <a:pt x="1128607" y="309663"/>
                  <a:pt x="1171469" y="411580"/>
                  <a:pt x="1253384" y="532548"/>
                </a:cubicBezTo>
                <a:cubicBezTo>
                  <a:pt x="1336252" y="652563"/>
                  <a:pt x="1457219" y="791628"/>
                  <a:pt x="1443884" y="904023"/>
                </a:cubicBezTo>
                <a:cubicBezTo>
                  <a:pt x="1430549" y="1016418"/>
                  <a:pt x="1282912" y="1102143"/>
                  <a:pt x="1145752" y="1165960"/>
                </a:cubicBezTo>
                <a:cubicBezTo>
                  <a:pt x="1008591" y="1228825"/>
                  <a:pt x="880956" y="1269783"/>
                  <a:pt x="728556" y="1305025"/>
                </a:cubicBezTo>
                <a:cubicBezTo>
                  <a:pt x="575204" y="1340268"/>
                  <a:pt x="397086" y="1370748"/>
                  <a:pt x="267546" y="1305025"/>
                </a:cubicBezTo>
                <a:cubicBezTo>
                  <a:pt x="138959" y="1239303"/>
                  <a:pt x="58949" y="1076425"/>
                  <a:pt x="21801" y="912595"/>
                </a:cubicBezTo>
                <a:cubicBezTo>
                  <a:pt x="-14394" y="748765"/>
                  <a:pt x="-8679" y="583030"/>
                  <a:pt x="64664" y="463968"/>
                </a:cubicBezTo>
                <a:cubicBezTo>
                  <a:pt x="138006" y="345858"/>
                  <a:pt x="278976" y="274420"/>
                  <a:pt x="405659" y="187742"/>
                </a:cubicBezTo>
                <a:cubicBezTo>
                  <a:pt x="531389" y="101065"/>
                  <a:pt x="642831" y="100"/>
                  <a:pt x="753321" y="100"/>
                </a:cubicBezTo>
                <a:cubicBezTo>
                  <a:pt x="864764" y="1052"/>
                  <a:pt x="974301" y="104875"/>
                  <a:pt x="1051454" y="206792"/>
                </a:cubicBezTo>
                <a:close/>
              </a:path>
            </a:pathLst>
          </a:custGeom>
          <a:solidFill>
            <a:srgbClr val="FF9900"/>
          </a:solidFill>
          <a:ln w="9525" cap="flat">
            <a:noFill/>
            <a:prstDash val="solid"/>
            <a:miter/>
          </a:ln>
        </p:spPr>
        <p:txBody>
          <a:bodyPr rtlCol="0" anchor="ctr"/>
          <a:lstStyle/>
          <a:p>
            <a:endParaRPr lang="en-IN"/>
          </a:p>
        </p:txBody>
      </p:sp>
      <p:grpSp>
        <p:nvGrpSpPr>
          <p:cNvPr id="2" name="Group 1">
            <a:extLst>
              <a:ext uri="{FF2B5EF4-FFF2-40B4-BE49-F238E27FC236}">
                <a16:creationId xmlns:a16="http://schemas.microsoft.com/office/drawing/2014/main" id="{1677F821-6945-4FB5-9887-69FB75DABC89}"/>
              </a:ext>
            </a:extLst>
          </p:cNvPr>
          <p:cNvGrpSpPr/>
          <p:nvPr/>
        </p:nvGrpSpPr>
        <p:grpSpPr>
          <a:xfrm>
            <a:off x="-3681143" y="-2297674"/>
            <a:ext cx="7362285" cy="7105531"/>
            <a:chOff x="-2861483" y="-2254131"/>
            <a:chExt cx="7362285" cy="7105531"/>
          </a:xfrm>
        </p:grpSpPr>
        <p:sp>
          <p:nvSpPr>
            <p:cNvPr id="6" name="Graphic 4">
              <a:extLst>
                <a:ext uri="{FF2B5EF4-FFF2-40B4-BE49-F238E27FC236}">
                  <a16:creationId xmlns:a16="http://schemas.microsoft.com/office/drawing/2014/main" id="{834BA1D4-0C72-474A-83FF-2D1B207A407E}"/>
                </a:ext>
              </a:extLst>
            </p:cNvPr>
            <p:cNvSpPr/>
            <p:nvPr/>
          </p:nvSpPr>
          <p:spPr>
            <a:xfrm rot="2476041">
              <a:off x="-634236" y="-2254131"/>
              <a:ext cx="4024137" cy="7105531"/>
            </a:xfrm>
            <a:custGeom>
              <a:avLst/>
              <a:gdLst>
                <a:gd name="connsiteX0" fmla="*/ 1112933 w 1137091"/>
                <a:gd name="connsiteY0" fmla="*/ 148024 h 1501074"/>
                <a:gd name="connsiteX1" fmla="*/ 1084358 w 1137091"/>
                <a:gd name="connsiteY1" fmla="*/ 625227 h 1501074"/>
                <a:gd name="connsiteX2" fmla="*/ 1081500 w 1137091"/>
                <a:gd name="connsiteY2" fmla="*/ 1030039 h 1501074"/>
                <a:gd name="connsiteX3" fmla="*/ 897668 w 1137091"/>
                <a:gd name="connsiteY3" fmla="*/ 1439615 h 1501074"/>
                <a:gd name="connsiteX4" fmla="*/ 429038 w 1137091"/>
                <a:gd name="connsiteY4" fmla="*/ 1446282 h 1501074"/>
                <a:gd name="connsiteX5" fmla="*/ 74708 w 1137091"/>
                <a:gd name="connsiteY5" fmla="*/ 1096715 h 1501074"/>
                <a:gd name="connsiteX6" fmla="*/ 7080 w 1137091"/>
                <a:gd name="connsiteY6" fmla="*/ 609035 h 1501074"/>
                <a:gd name="connsiteX7" fmla="*/ 194723 w 1137091"/>
                <a:gd name="connsiteY7" fmla="*/ 152787 h 1501074"/>
                <a:gd name="connsiteX8" fmla="*/ 679545 w 1137091"/>
                <a:gd name="connsiteY8" fmla="*/ 387 h 1501074"/>
                <a:gd name="connsiteX9" fmla="*/ 1112933 w 1137091"/>
                <a:gd name="connsiteY9" fmla="*/ 148024 h 1501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37091" h="1501074">
                  <a:moveTo>
                    <a:pt x="1112933" y="148024"/>
                  </a:moveTo>
                  <a:cubicBezTo>
                    <a:pt x="1172940" y="267087"/>
                    <a:pt x="1105313" y="469969"/>
                    <a:pt x="1084358" y="625227"/>
                  </a:cubicBezTo>
                  <a:cubicBezTo>
                    <a:pt x="1064355" y="779532"/>
                    <a:pt x="1092930" y="886212"/>
                    <a:pt x="1081500" y="1030039"/>
                  </a:cubicBezTo>
                  <a:cubicBezTo>
                    <a:pt x="1069118" y="1173867"/>
                    <a:pt x="1018635" y="1353890"/>
                    <a:pt x="897668" y="1439615"/>
                  </a:cubicBezTo>
                  <a:cubicBezTo>
                    <a:pt x="776700" y="1525340"/>
                    <a:pt x="587153" y="1515815"/>
                    <a:pt x="429038" y="1446282"/>
                  </a:cubicBezTo>
                  <a:cubicBezTo>
                    <a:pt x="270923" y="1375797"/>
                    <a:pt x="146145" y="1246257"/>
                    <a:pt x="74708" y="1096715"/>
                  </a:cubicBezTo>
                  <a:cubicBezTo>
                    <a:pt x="4223" y="948125"/>
                    <a:pt x="-11017" y="780485"/>
                    <a:pt x="7080" y="609035"/>
                  </a:cubicBezTo>
                  <a:cubicBezTo>
                    <a:pt x="25178" y="436632"/>
                    <a:pt x="77565" y="261372"/>
                    <a:pt x="194723" y="152787"/>
                  </a:cubicBezTo>
                  <a:cubicBezTo>
                    <a:pt x="312833" y="44202"/>
                    <a:pt x="494760" y="3244"/>
                    <a:pt x="679545" y="387"/>
                  </a:cubicBezTo>
                  <a:cubicBezTo>
                    <a:pt x="865283" y="-3423"/>
                    <a:pt x="1052925" y="29915"/>
                    <a:pt x="1112933" y="148024"/>
                  </a:cubicBezTo>
                  <a:close/>
                </a:path>
              </a:pathLst>
            </a:custGeom>
            <a:solidFill>
              <a:srgbClr val="131921"/>
            </a:solidFill>
            <a:ln w="9525" cap="flat">
              <a:noFill/>
              <a:prstDash val="solid"/>
              <a:miter/>
            </a:ln>
          </p:spPr>
          <p:txBody>
            <a:bodyPr rtlCol="0" anchor="ctr"/>
            <a:lstStyle/>
            <a:p>
              <a:endParaRPr lang="en-IN"/>
            </a:p>
          </p:txBody>
        </p:sp>
        <p:sp>
          <p:nvSpPr>
            <p:cNvPr id="22" name="Graphic 4">
              <a:extLst>
                <a:ext uri="{FF2B5EF4-FFF2-40B4-BE49-F238E27FC236}">
                  <a16:creationId xmlns:a16="http://schemas.microsoft.com/office/drawing/2014/main" id="{8C23666D-AA0B-4055-B6D1-F271DD034ADC}"/>
                </a:ext>
              </a:extLst>
            </p:cNvPr>
            <p:cNvSpPr/>
            <p:nvPr/>
          </p:nvSpPr>
          <p:spPr>
            <a:xfrm rot="3140551">
              <a:off x="-1320786" y="-2808187"/>
              <a:ext cx="4024137" cy="7105531"/>
            </a:xfrm>
            <a:custGeom>
              <a:avLst/>
              <a:gdLst>
                <a:gd name="connsiteX0" fmla="*/ 1112933 w 1137091"/>
                <a:gd name="connsiteY0" fmla="*/ 148024 h 1501074"/>
                <a:gd name="connsiteX1" fmla="*/ 1084358 w 1137091"/>
                <a:gd name="connsiteY1" fmla="*/ 625227 h 1501074"/>
                <a:gd name="connsiteX2" fmla="*/ 1081500 w 1137091"/>
                <a:gd name="connsiteY2" fmla="*/ 1030039 h 1501074"/>
                <a:gd name="connsiteX3" fmla="*/ 897668 w 1137091"/>
                <a:gd name="connsiteY3" fmla="*/ 1439615 h 1501074"/>
                <a:gd name="connsiteX4" fmla="*/ 429038 w 1137091"/>
                <a:gd name="connsiteY4" fmla="*/ 1446282 h 1501074"/>
                <a:gd name="connsiteX5" fmla="*/ 74708 w 1137091"/>
                <a:gd name="connsiteY5" fmla="*/ 1096715 h 1501074"/>
                <a:gd name="connsiteX6" fmla="*/ 7080 w 1137091"/>
                <a:gd name="connsiteY6" fmla="*/ 609035 h 1501074"/>
                <a:gd name="connsiteX7" fmla="*/ 194723 w 1137091"/>
                <a:gd name="connsiteY7" fmla="*/ 152787 h 1501074"/>
                <a:gd name="connsiteX8" fmla="*/ 679545 w 1137091"/>
                <a:gd name="connsiteY8" fmla="*/ 387 h 1501074"/>
                <a:gd name="connsiteX9" fmla="*/ 1112933 w 1137091"/>
                <a:gd name="connsiteY9" fmla="*/ 148024 h 1501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37091" h="1501074">
                  <a:moveTo>
                    <a:pt x="1112933" y="148024"/>
                  </a:moveTo>
                  <a:cubicBezTo>
                    <a:pt x="1172940" y="267087"/>
                    <a:pt x="1105313" y="469969"/>
                    <a:pt x="1084358" y="625227"/>
                  </a:cubicBezTo>
                  <a:cubicBezTo>
                    <a:pt x="1064355" y="779532"/>
                    <a:pt x="1092930" y="886212"/>
                    <a:pt x="1081500" y="1030039"/>
                  </a:cubicBezTo>
                  <a:cubicBezTo>
                    <a:pt x="1069118" y="1173867"/>
                    <a:pt x="1018635" y="1353890"/>
                    <a:pt x="897668" y="1439615"/>
                  </a:cubicBezTo>
                  <a:cubicBezTo>
                    <a:pt x="776700" y="1525340"/>
                    <a:pt x="587153" y="1515815"/>
                    <a:pt x="429038" y="1446282"/>
                  </a:cubicBezTo>
                  <a:cubicBezTo>
                    <a:pt x="270923" y="1375797"/>
                    <a:pt x="146145" y="1246257"/>
                    <a:pt x="74708" y="1096715"/>
                  </a:cubicBezTo>
                  <a:cubicBezTo>
                    <a:pt x="4223" y="948125"/>
                    <a:pt x="-11017" y="780485"/>
                    <a:pt x="7080" y="609035"/>
                  </a:cubicBezTo>
                  <a:cubicBezTo>
                    <a:pt x="25178" y="436632"/>
                    <a:pt x="77565" y="261372"/>
                    <a:pt x="194723" y="152787"/>
                  </a:cubicBezTo>
                  <a:cubicBezTo>
                    <a:pt x="312833" y="44202"/>
                    <a:pt x="494760" y="3244"/>
                    <a:pt x="679545" y="387"/>
                  </a:cubicBezTo>
                  <a:cubicBezTo>
                    <a:pt x="865283" y="-3423"/>
                    <a:pt x="1052925" y="29915"/>
                    <a:pt x="1112933" y="148024"/>
                  </a:cubicBezTo>
                  <a:close/>
                </a:path>
              </a:pathLst>
            </a:custGeom>
            <a:solidFill>
              <a:srgbClr val="232F3E"/>
            </a:solidFill>
            <a:ln w="9525" cap="flat">
              <a:noFill/>
              <a:prstDash val="solid"/>
              <a:miter/>
            </a:ln>
          </p:spPr>
          <p:txBody>
            <a:bodyPr rtlCol="0" anchor="ctr"/>
            <a:lstStyle/>
            <a:p>
              <a:endParaRPr lang="en-IN" dirty="0"/>
            </a:p>
          </p:txBody>
        </p:sp>
        <p:sp>
          <p:nvSpPr>
            <p:cNvPr id="25" name="Graphic 11">
              <a:extLst>
                <a:ext uri="{FF2B5EF4-FFF2-40B4-BE49-F238E27FC236}">
                  <a16:creationId xmlns:a16="http://schemas.microsoft.com/office/drawing/2014/main" id="{22B03510-4CF1-46CA-BE80-1E37CD0837F6}"/>
                </a:ext>
              </a:extLst>
            </p:cNvPr>
            <p:cNvSpPr/>
            <p:nvPr/>
          </p:nvSpPr>
          <p:spPr>
            <a:xfrm rot="8901965">
              <a:off x="3130551" y="555042"/>
              <a:ext cx="1370251" cy="1274286"/>
            </a:xfrm>
            <a:custGeom>
              <a:avLst/>
              <a:gdLst>
                <a:gd name="connsiteX0" fmla="*/ 1051454 w 1444799"/>
                <a:gd name="connsiteY0" fmla="*/ 206792 h 1343613"/>
                <a:gd name="connsiteX1" fmla="*/ 1253384 w 1444799"/>
                <a:gd name="connsiteY1" fmla="*/ 532548 h 1343613"/>
                <a:gd name="connsiteX2" fmla="*/ 1443884 w 1444799"/>
                <a:gd name="connsiteY2" fmla="*/ 904023 h 1343613"/>
                <a:gd name="connsiteX3" fmla="*/ 1145752 w 1444799"/>
                <a:gd name="connsiteY3" fmla="*/ 1165960 h 1343613"/>
                <a:gd name="connsiteX4" fmla="*/ 728556 w 1444799"/>
                <a:gd name="connsiteY4" fmla="*/ 1305025 h 1343613"/>
                <a:gd name="connsiteX5" fmla="*/ 267546 w 1444799"/>
                <a:gd name="connsiteY5" fmla="*/ 1305025 h 1343613"/>
                <a:gd name="connsiteX6" fmla="*/ 21801 w 1444799"/>
                <a:gd name="connsiteY6" fmla="*/ 912595 h 1343613"/>
                <a:gd name="connsiteX7" fmla="*/ 64664 w 1444799"/>
                <a:gd name="connsiteY7" fmla="*/ 463968 h 1343613"/>
                <a:gd name="connsiteX8" fmla="*/ 405659 w 1444799"/>
                <a:gd name="connsiteY8" fmla="*/ 187742 h 1343613"/>
                <a:gd name="connsiteX9" fmla="*/ 753321 w 1444799"/>
                <a:gd name="connsiteY9" fmla="*/ 100 h 1343613"/>
                <a:gd name="connsiteX10" fmla="*/ 1051454 w 1444799"/>
                <a:gd name="connsiteY10" fmla="*/ 206792 h 1343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44799" h="1343613">
                  <a:moveTo>
                    <a:pt x="1051454" y="206792"/>
                  </a:moveTo>
                  <a:cubicBezTo>
                    <a:pt x="1128607" y="309663"/>
                    <a:pt x="1171469" y="411580"/>
                    <a:pt x="1253384" y="532548"/>
                  </a:cubicBezTo>
                  <a:cubicBezTo>
                    <a:pt x="1336252" y="652563"/>
                    <a:pt x="1457219" y="791628"/>
                    <a:pt x="1443884" y="904023"/>
                  </a:cubicBezTo>
                  <a:cubicBezTo>
                    <a:pt x="1430549" y="1016418"/>
                    <a:pt x="1282912" y="1102143"/>
                    <a:pt x="1145752" y="1165960"/>
                  </a:cubicBezTo>
                  <a:cubicBezTo>
                    <a:pt x="1008591" y="1228825"/>
                    <a:pt x="880956" y="1269783"/>
                    <a:pt x="728556" y="1305025"/>
                  </a:cubicBezTo>
                  <a:cubicBezTo>
                    <a:pt x="575204" y="1340268"/>
                    <a:pt x="397086" y="1370748"/>
                    <a:pt x="267546" y="1305025"/>
                  </a:cubicBezTo>
                  <a:cubicBezTo>
                    <a:pt x="138959" y="1239303"/>
                    <a:pt x="58949" y="1076425"/>
                    <a:pt x="21801" y="912595"/>
                  </a:cubicBezTo>
                  <a:cubicBezTo>
                    <a:pt x="-14394" y="748765"/>
                    <a:pt x="-8679" y="583030"/>
                    <a:pt x="64664" y="463968"/>
                  </a:cubicBezTo>
                  <a:cubicBezTo>
                    <a:pt x="138006" y="345858"/>
                    <a:pt x="278976" y="274420"/>
                    <a:pt x="405659" y="187742"/>
                  </a:cubicBezTo>
                  <a:cubicBezTo>
                    <a:pt x="531389" y="101065"/>
                    <a:pt x="642831" y="100"/>
                    <a:pt x="753321" y="100"/>
                  </a:cubicBezTo>
                  <a:cubicBezTo>
                    <a:pt x="864764" y="1052"/>
                    <a:pt x="974301" y="104875"/>
                    <a:pt x="1051454" y="206792"/>
                  </a:cubicBezTo>
                  <a:close/>
                </a:path>
              </a:pathLst>
            </a:custGeom>
            <a:solidFill>
              <a:srgbClr val="FF9900"/>
            </a:solidFill>
            <a:ln w="9525" cap="flat">
              <a:noFill/>
              <a:prstDash val="solid"/>
              <a:miter/>
            </a:ln>
          </p:spPr>
          <p:txBody>
            <a:bodyPr rtlCol="0" anchor="ctr"/>
            <a:lstStyle/>
            <a:p>
              <a:endParaRPr lang="en-IN"/>
            </a:p>
          </p:txBody>
        </p:sp>
      </p:grpSp>
      <p:sp>
        <p:nvSpPr>
          <p:cNvPr id="9" name="Freeform: Shape 8">
            <a:extLst>
              <a:ext uri="{FF2B5EF4-FFF2-40B4-BE49-F238E27FC236}">
                <a16:creationId xmlns:a16="http://schemas.microsoft.com/office/drawing/2014/main" id="{B22F9731-B0FC-4706-9E67-202F61A914FF}"/>
              </a:ext>
            </a:extLst>
          </p:cNvPr>
          <p:cNvSpPr/>
          <p:nvPr/>
        </p:nvSpPr>
        <p:spPr>
          <a:xfrm>
            <a:off x="4636606" y="3867382"/>
            <a:ext cx="1971876" cy="368374"/>
          </a:xfrm>
          <a:custGeom>
            <a:avLst/>
            <a:gdLst>
              <a:gd name="connsiteX0" fmla="*/ 4569032 w 4609853"/>
              <a:gd name="connsiteY0" fmla="*/ 413392 h 1039050"/>
              <a:gd name="connsiteX1" fmla="*/ 2522490 w 4609853"/>
              <a:gd name="connsiteY1" fmla="*/ 1039051 h 1039050"/>
              <a:gd name="connsiteX2" fmla="*/ 22339 w 4609853"/>
              <a:gd name="connsiteY2" fmla="*/ 85017 h 1039050"/>
              <a:gd name="connsiteX3" fmla="*/ 79146 w 4609853"/>
              <a:gd name="connsiteY3" fmla="*/ 10798 h 1039050"/>
              <a:gd name="connsiteX4" fmla="*/ 2580535 w 4609853"/>
              <a:gd name="connsiteY4" fmla="*/ 674186 h 1039050"/>
              <a:gd name="connsiteX5" fmla="*/ 4488602 w 4609853"/>
              <a:gd name="connsiteY5" fmla="*/ 284033 h 1039050"/>
              <a:gd name="connsiteX6" fmla="*/ 4569032 w 4609853"/>
              <a:gd name="connsiteY6" fmla="*/ 413392 h 103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09853" h="1039050">
                <a:moveTo>
                  <a:pt x="4569032" y="413392"/>
                </a:moveTo>
                <a:cubicBezTo>
                  <a:pt x="4015524" y="821376"/>
                  <a:pt x="3213233" y="1039051"/>
                  <a:pt x="2522490" y="1039051"/>
                </a:cubicBezTo>
                <a:cubicBezTo>
                  <a:pt x="1553940" y="1039051"/>
                  <a:pt x="682003" y="680825"/>
                  <a:pt x="22339" y="85017"/>
                </a:cubicBezTo>
                <a:cubicBezTo>
                  <a:pt x="-29486" y="38164"/>
                  <a:pt x="16958" y="-25682"/>
                  <a:pt x="79146" y="10798"/>
                </a:cubicBezTo>
                <a:cubicBezTo>
                  <a:pt x="791045" y="425003"/>
                  <a:pt x="1671279" y="674186"/>
                  <a:pt x="2580535" y="674186"/>
                </a:cubicBezTo>
                <a:cubicBezTo>
                  <a:pt x="3193755" y="674186"/>
                  <a:pt x="3868334" y="547313"/>
                  <a:pt x="4488602" y="284033"/>
                </a:cubicBezTo>
                <a:cubicBezTo>
                  <a:pt x="4582300" y="244228"/>
                  <a:pt x="4660662" y="345393"/>
                  <a:pt x="4569032" y="413392"/>
                </a:cubicBezTo>
              </a:path>
            </a:pathLst>
          </a:custGeom>
          <a:solidFill>
            <a:srgbClr val="FF9900"/>
          </a:solidFill>
          <a:ln w="9525" cap="flat">
            <a:noFill/>
            <a:prstDash val="solid"/>
            <a:miter/>
          </a:ln>
        </p:spPr>
        <p:txBody>
          <a:bodyPr rtlCol="0" anchor="ctr"/>
          <a:lstStyle/>
          <a:p>
            <a:endParaRPr lang="en-IN"/>
          </a:p>
        </p:txBody>
      </p:sp>
      <p:sp>
        <p:nvSpPr>
          <p:cNvPr id="10" name="Freeform: Shape 9">
            <a:extLst>
              <a:ext uri="{FF2B5EF4-FFF2-40B4-BE49-F238E27FC236}">
                <a16:creationId xmlns:a16="http://schemas.microsoft.com/office/drawing/2014/main" id="{753DC809-06A1-40CF-AA17-0E8089FE7962}"/>
              </a:ext>
            </a:extLst>
          </p:cNvPr>
          <p:cNvSpPr/>
          <p:nvPr/>
        </p:nvSpPr>
        <p:spPr>
          <a:xfrm>
            <a:off x="6393463" y="3832087"/>
            <a:ext cx="405318" cy="330866"/>
          </a:xfrm>
          <a:custGeom>
            <a:avLst/>
            <a:gdLst>
              <a:gd name="connsiteX0" fmla="*/ 691963 w 947553"/>
              <a:gd name="connsiteY0" fmla="*/ 249669 h 933254"/>
              <a:gd name="connsiteX1" fmla="*/ 45996 w 947553"/>
              <a:gd name="connsiteY1" fmla="*/ 228114 h 933254"/>
              <a:gd name="connsiteX2" fmla="*/ 32309 w 947553"/>
              <a:gd name="connsiteY2" fmla="*/ 153476 h 933254"/>
              <a:gd name="connsiteX3" fmla="*/ 928297 w 947553"/>
              <a:gd name="connsiteY3" fmla="*/ 69723 h 933254"/>
              <a:gd name="connsiteX4" fmla="*/ 615258 w 947553"/>
              <a:gd name="connsiteY4" fmla="*/ 913476 h 933254"/>
              <a:gd name="connsiteX5" fmla="*/ 546430 w 947553"/>
              <a:gd name="connsiteY5" fmla="*/ 880719 h 933254"/>
              <a:gd name="connsiteX6" fmla="*/ 691963 w 947553"/>
              <a:gd name="connsiteY6" fmla="*/ 249669 h 933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47553" h="933254">
                <a:moveTo>
                  <a:pt x="691963" y="249669"/>
                </a:moveTo>
                <a:cubicBezTo>
                  <a:pt x="621477" y="159286"/>
                  <a:pt x="224275" y="206968"/>
                  <a:pt x="45996" y="228114"/>
                </a:cubicBezTo>
                <a:cubicBezTo>
                  <a:pt x="-8325" y="234743"/>
                  <a:pt x="-16612" y="187480"/>
                  <a:pt x="32309" y="153476"/>
                </a:cubicBezTo>
                <a:cubicBezTo>
                  <a:pt x="348663" y="-69171"/>
                  <a:pt x="867765" y="-4906"/>
                  <a:pt x="928297" y="69723"/>
                </a:cubicBezTo>
                <a:cubicBezTo>
                  <a:pt x="988828" y="144770"/>
                  <a:pt x="912543" y="665111"/>
                  <a:pt x="615258" y="913476"/>
                </a:cubicBezTo>
                <a:cubicBezTo>
                  <a:pt x="569652" y="951614"/>
                  <a:pt x="526123" y="931297"/>
                  <a:pt x="546430" y="880719"/>
                </a:cubicBezTo>
                <a:cubicBezTo>
                  <a:pt x="613191" y="714041"/>
                  <a:pt x="762866" y="340471"/>
                  <a:pt x="691963" y="249669"/>
                </a:cubicBezTo>
              </a:path>
            </a:pathLst>
          </a:custGeom>
          <a:solidFill>
            <a:srgbClr val="FF9900"/>
          </a:solidFill>
          <a:ln w="9525" cap="flat">
            <a:noFill/>
            <a:prstDash val="solid"/>
            <a:miter/>
          </a:ln>
        </p:spPr>
        <p:txBody>
          <a:bodyPr rtlCol="0" anchor="ctr"/>
          <a:lstStyle/>
          <a:p>
            <a:endParaRPr lang="en-IN"/>
          </a:p>
        </p:txBody>
      </p:sp>
    </p:spTree>
    <p:extLst>
      <p:ext uri="{BB962C8B-B14F-4D97-AF65-F5344CB8AC3E}">
        <p14:creationId xmlns:p14="http://schemas.microsoft.com/office/powerpoint/2010/main" val="17406971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3430</TotalTime>
  <Words>949</Words>
  <Application>Microsoft Office PowerPoint</Application>
  <PresentationFormat>Widescreen</PresentationFormat>
  <Paragraphs>89</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Roboto</vt:lpstr>
      <vt:lpstr>Calibri Light</vt:lpstr>
      <vt:lpstr>Arial</vt:lpstr>
      <vt:lpstr>Calibri</vt:lpstr>
      <vt:lpstr>Inter</vt:lpstr>
      <vt:lpstr>Fira Sans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Sapling Creations</dc:creator>
  <cp:lastModifiedBy>Razan ,,</cp:lastModifiedBy>
  <cp:revision>201</cp:revision>
  <dcterms:created xsi:type="dcterms:W3CDTF">2021-11-17T09:33:18Z</dcterms:created>
  <dcterms:modified xsi:type="dcterms:W3CDTF">2025-04-14T07:37:00Z</dcterms:modified>
</cp:coreProperties>
</file>